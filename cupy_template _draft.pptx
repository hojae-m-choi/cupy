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9"/>
  </p:notesMasterIdLst>
  <p:sldIdLst>
    <p:sldId id="256" r:id="rId2"/>
    <p:sldId id="257" r:id="rId3"/>
    <p:sldId id="258" r:id="rId4"/>
    <p:sldId id="259" r:id="rId5"/>
    <p:sldId id="260" r:id="rId6"/>
    <p:sldId id="574" r:id="rId7"/>
    <p:sldId id="1752" r:id="rId8"/>
    <p:sldId id="1753" r:id="rId9"/>
    <p:sldId id="1754" r:id="rId10"/>
    <p:sldId id="1755" r:id="rId11"/>
    <p:sldId id="1756" r:id="rId12"/>
    <p:sldId id="1757" r:id="rId13"/>
    <p:sldId id="1758" r:id="rId14"/>
    <p:sldId id="1759" r:id="rId15"/>
    <p:sldId id="1760" r:id="rId16"/>
    <p:sldId id="1761" r:id="rId17"/>
    <p:sldId id="1762" r:id="rId18"/>
    <p:sldId id="1763" r:id="rId19"/>
    <p:sldId id="1764" r:id="rId20"/>
    <p:sldId id="1765" r:id="rId21"/>
    <p:sldId id="1766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1769" r:id="rId33"/>
    <p:sldId id="1770" r:id="rId34"/>
    <p:sldId id="1771" r:id="rId35"/>
    <p:sldId id="1772" r:id="rId36"/>
    <p:sldId id="1774" r:id="rId37"/>
    <p:sldId id="1773" r:id="rId38"/>
    <p:sldId id="1767" r:id="rId39"/>
    <p:sldId id="1775" r:id="rId40"/>
    <p:sldId id="1776" r:id="rId41"/>
    <p:sldId id="1768" r:id="rId42"/>
    <p:sldId id="1778" r:id="rId43"/>
    <p:sldId id="17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  <p:sldId id="312" r:id="rId79"/>
    <p:sldId id="313" r:id="rId80"/>
    <p:sldId id="314" r:id="rId81"/>
    <p:sldId id="315" r:id="rId82"/>
    <p:sldId id="316" r:id="rId83"/>
    <p:sldId id="317" r:id="rId84"/>
    <p:sldId id="318" r:id="rId85"/>
    <p:sldId id="319" r:id="rId86"/>
    <p:sldId id="320" r:id="rId87"/>
    <p:sldId id="321" r:id="rId88"/>
    <p:sldId id="322" r:id="rId89"/>
    <p:sldId id="323" r:id="rId90"/>
    <p:sldId id="324" r:id="rId91"/>
    <p:sldId id="325" r:id="rId92"/>
    <p:sldId id="326" r:id="rId93"/>
    <p:sldId id="327" r:id="rId94"/>
    <p:sldId id="328" r:id="rId95"/>
    <p:sldId id="329" r:id="rId96"/>
    <p:sldId id="330" r:id="rId97"/>
    <p:sldId id="331" r:id="rId98"/>
    <p:sldId id="332" r:id="rId99"/>
    <p:sldId id="333" r:id="rId100"/>
    <p:sldId id="334" r:id="rId101"/>
    <p:sldId id="335" r:id="rId102"/>
    <p:sldId id="336" r:id="rId103"/>
    <p:sldId id="337" r:id="rId104"/>
    <p:sldId id="338" r:id="rId105"/>
    <p:sldId id="339" r:id="rId106"/>
    <p:sldId id="340" r:id="rId107"/>
    <p:sldId id="341" r:id="rId108"/>
    <p:sldId id="342" r:id="rId109"/>
    <p:sldId id="343" r:id="rId110"/>
    <p:sldId id="344" r:id="rId111"/>
    <p:sldId id="345" r:id="rId112"/>
    <p:sldId id="346" r:id="rId113"/>
    <p:sldId id="347" r:id="rId114"/>
    <p:sldId id="348" r:id="rId115"/>
    <p:sldId id="349" r:id="rId116"/>
    <p:sldId id="350" r:id="rId117"/>
    <p:sldId id="351" r:id="rId118"/>
    <p:sldId id="352" r:id="rId119"/>
    <p:sldId id="353" r:id="rId120"/>
    <p:sldId id="354" r:id="rId121"/>
    <p:sldId id="355" r:id="rId122"/>
    <p:sldId id="356" r:id="rId123"/>
    <p:sldId id="357" r:id="rId124"/>
    <p:sldId id="358" r:id="rId125"/>
    <p:sldId id="359" r:id="rId126"/>
    <p:sldId id="360" r:id="rId127"/>
    <p:sldId id="361" r:id="rId128"/>
    <p:sldId id="362" r:id="rId129"/>
    <p:sldId id="363" r:id="rId130"/>
    <p:sldId id="364" r:id="rId131"/>
    <p:sldId id="365" r:id="rId132"/>
    <p:sldId id="366" r:id="rId133"/>
    <p:sldId id="367" r:id="rId134"/>
    <p:sldId id="368" r:id="rId135"/>
    <p:sldId id="369" r:id="rId136"/>
    <p:sldId id="370" r:id="rId137"/>
    <p:sldId id="371" r:id="rId138"/>
    <p:sldId id="372" r:id="rId139"/>
    <p:sldId id="373" r:id="rId140"/>
    <p:sldId id="374" r:id="rId141"/>
    <p:sldId id="375" r:id="rId142"/>
    <p:sldId id="376" r:id="rId143"/>
    <p:sldId id="377" r:id="rId144"/>
    <p:sldId id="378" r:id="rId145"/>
    <p:sldId id="379" r:id="rId146"/>
    <p:sldId id="380" r:id="rId147"/>
    <p:sldId id="381" r:id="rId148"/>
    <p:sldId id="382" r:id="rId149"/>
    <p:sldId id="383" r:id="rId150"/>
    <p:sldId id="384" r:id="rId151"/>
    <p:sldId id="385" r:id="rId152"/>
    <p:sldId id="386" r:id="rId153"/>
    <p:sldId id="387" r:id="rId154"/>
    <p:sldId id="388" r:id="rId155"/>
    <p:sldId id="389" r:id="rId156"/>
    <p:sldId id="390" r:id="rId157"/>
    <p:sldId id="391" r:id="rId158"/>
    <p:sldId id="392" r:id="rId159"/>
    <p:sldId id="393" r:id="rId160"/>
    <p:sldId id="394" r:id="rId161"/>
    <p:sldId id="395" r:id="rId162"/>
    <p:sldId id="396" r:id="rId163"/>
    <p:sldId id="397" r:id="rId164"/>
    <p:sldId id="398" r:id="rId165"/>
    <p:sldId id="399" r:id="rId166"/>
    <p:sldId id="400" r:id="rId167"/>
    <p:sldId id="401" r:id="rId168"/>
    <p:sldId id="402" r:id="rId169"/>
    <p:sldId id="403" r:id="rId170"/>
    <p:sldId id="404" r:id="rId171"/>
    <p:sldId id="405" r:id="rId172"/>
    <p:sldId id="406" r:id="rId173"/>
    <p:sldId id="407" r:id="rId174"/>
    <p:sldId id="408" r:id="rId175"/>
    <p:sldId id="409" r:id="rId176"/>
    <p:sldId id="410" r:id="rId177"/>
    <p:sldId id="411" r:id="rId178"/>
    <p:sldId id="412" r:id="rId179"/>
    <p:sldId id="413" r:id="rId180"/>
    <p:sldId id="414" r:id="rId181"/>
    <p:sldId id="415" r:id="rId182"/>
    <p:sldId id="416" r:id="rId183"/>
    <p:sldId id="417" r:id="rId184"/>
    <p:sldId id="418" r:id="rId185"/>
    <p:sldId id="419" r:id="rId186"/>
    <p:sldId id="420" r:id="rId187"/>
    <p:sldId id="421" r:id="rId188"/>
    <p:sldId id="422" r:id="rId189"/>
    <p:sldId id="423" r:id="rId190"/>
    <p:sldId id="424" r:id="rId191"/>
    <p:sldId id="425" r:id="rId192"/>
    <p:sldId id="426" r:id="rId193"/>
    <p:sldId id="427" r:id="rId194"/>
    <p:sldId id="428" r:id="rId195"/>
    <p:sldId id="429" r:id="rId196"/>
    <p:sldId id="430" r:id="rId197"/>
    <p:sldId id="431" r:id="rId198"/>
    <p:sldId id="432" r:id="rId199"/>
    <p:sldId id="433" r:id="rId200"/>
    <p:sldId id="434" r:id="rId201"/>
    <p:sldId id="435" r:id="rId202"/>
    <p:sldId id="436" r:id="rId203"/>
    <p:sldId id="437" r:id="rId204"/>
    <p:sldId id="438" r:id="rId205"/>
    <p:sldId id="439" r:id="rId206"/>
    <p:sldId id="440" r:id="rId207"/>
    <p:sldId id="441" r:id="rId208"/>
    <p:sldId id="442" r:id="rId209"/>
    <p:sldId id="443" r:id="rId210"/>
    <p:sldId id="444" r:id="rId211"/>
    <p:sldId id="445" r:id="rId212"/>
    <p:sldId id="446" r:id="rId213"/>
    <p:sldId id="447" r:id="rId214"/>
    <p:sldId id="448" r:id="rId215"/>
    <p:sldId id="449" r:id="rId216"/>
    <p:sldId id="450" r:id="rId217"/>
    <p:sldId id="451" r:id="rId218"/>
    <p:sldId id="452" r:id="rId219"/>
    <p:sldId id="453" r:id="rId220"/>
    <p:sldId id="454" r:id="rId221"/>
    <p:sldId id="455" r:id="rId222"/>
    <p:sldId id="456" r:id="rId223"/>
    <p:sldId id="457" r:id="rId224"/>
    <p:sldId id="458" r:id="rId225"/>
    <p:sldId id="459" r:id="rId226"/>
    <p:sldId id="460" r:id="rId227"/>
    <p:sldId id="461" r:id="rId228"/>
    <p:sldId id="462" r:id="rId229"/>
    <p:sldId id="463" r:id="rId230"/>
    <p:sldId id="464" r:id="rId231"/>
    <p:sldId id="465" r:id="rId232"/>
    <p:sldId id="466" r:id="rId233"/>
    <p:sldId id="467" r:id="rId234"/>
    <p:sldId id="468" r:id="rId235"/>
    <p:sldId id="469" r:id="rId236"/>
    <p:sldId id="470" r:id="rId237"/>
    <p:sldId id="471" r:id="rId238"/>
    <p:sldId id="472" r:id="rId239"/>
    <p:sldId id="473" r:id="rId240"/>
    <p:sldId id="474" r:id="rId241"/>
    <p:sldId id="475" r:id="rId242"/>
    <p:sldId id="476" r:id="rId243"/>
    <p:sldId id="477" r:id="rId244"/>
    <p:sldId id="478" r:id="rId245"/>
    <p:sldId id="479" r:id="rId246"/>
    <p:sldId id="480" r:id="rId247"/>
    <p:sldId id="481" r:id="rId248"/>
    <p:sldId id="482" r:id="rId249"/>
    <p:sldId id="483" r:id="rId250"/>
    <p:sldId id="484" r:id="rId251"/>
    <p:sldId id="485" r:id="rId252"/>
    <p:sldId id="486" r:id="rId253"/>
    <p:sldId id="487" r:id="rId254"/>
    <p:sldId id="488" r:id="rId255"/>
    <p:sldId id="489" r:id="rId256"/>
    <p:sldId id="490" r:id="rId257"/>
    <p:sldId id="491" r:id="rId258"/>
    <p:sldId id="492" r:id="rId259"/>
    <p:sldId id="493" r:id="rId260"/>
    <p:sldId id="494" r:id="rId261"/>
    <p:sldId id="495" r:id="rId262"/>
    <p:sldId id="496" r:id="rId263"/>
    <p:sldId id="497" r:id="rId264"/>
    <p:sldId id="498" r:id="rId265"/>
    <p:sldId id="499" r:id="rId266"/>
    <p:sldId id="500" r:id="rId267"/>
    <p:sldId id="501" r:id="rId268"/>
    <p:sldId id="502" r:id="rId269"/>
    <p:sldId id="503" r:id="rId270"/>
    <p:sldId id="504" r:id="rId271"/>
    <p:sldId id="505" r:id="rId272"/>
    <p:sldId id="506" r:id="rId273"/>
    <p:sldId id="507" r:id="rId274"/>
    <p:sldId id="508" r:id="rId275"/>
    <p:sldId id="509" r:id="rId276"/>
    <p:sldId id="510" r:id="rId277"/>
    <p:sldId id="511" r:id="rId278"/>
    <p:sldId id="512" r:id="rId279"/>
    <p:sldId id="513" r:id="rId280"/>
    <p:sldId id="514" r:id="rId281"/>
    <p:sldId id="515" r:id="rId282"/>
    <p:sldId id="516" r:id="rId283"/>
    <p:sldId id="517" r:id="rId284"/>
    <p:sldId id="518" r:id="rId285"/>
    <p:sldId id="519" r:id="rId286"/>
    <p:sldId id="520" r:id="rId287"/>
    <p:sldId id="521" r:id="rId288"/>
    <p:sldId id="522" r:id="rId289"/>
    <p:sldId id="523" r:id="rId290"/>
    <p:sldId id="524" r:id="rId291"/>
    <p:sldId id="525" r:id="rId292"/>
    <p:sldId id="526" r:id="rId293"/>
    <p:sldId id="527" r:id="rId294"/>
    <p:sldId id="528" r:id="rId295"/>
    <p:sldId id="529" r:id="rId296"/>
    <p:sldId id="530" r:id="rId297"/>
    <p:sldId id="531" r:id="rId298"/>
    <p:sldId id="532" r:id="rId299"/>
    <p:sldId id="533" r:id="rId300"/>
    <p:sldId id="534" r:id="rId301"/>
    <p:sldId id="535" r:id="rId302"/>
    <p:sldId id="536" r:id="rId303"/>
    <p:sldId id="537" r:id="rId304"/>
    <p:sldId id="538" r:id="rId305"/>
    <p:sldId id="539" r:id="rId306"/>
    <p:sldId id="540" r:id="rId307"/>
    <p:sldId id="541" r:id="rId308"/>
    <p:sldId id="542" r:id="rId309"/>
    <p:sldId id="543" r:id="rId310"/>
    <p:sldId id="544" r:id="rId311"/>
    <p:sldId id="545" r:id="rId312"/>
    <p:sldId id="546" r:id="rId313"/>
    <p:sldId id="547" r:id="rId314"/>
    <p:sldId id="548" r:id="rId315"/>
    <p:sldId id="549" r:id="rId316"/>
    <p:sldId id="550" r:id="rId317"/>
    <p:sldId id="551" r:id="rId318"/>
    <p:sldId id="552" r:id="rId319"/>
    <p:sldId id="553" r:id="rId320"/>
    <p:sldId id="554" r:id="rId321"/>
    <p:sldId id="555" r:id="rId322"/>
    <p:sldId id="556" r:id="rId323"/>
    <p:sldId id="557" r:id="rId324"/>
    <p:sldId id="558" r:id="rId325"/>
    <p:sldId id="559" r:id="rId326"/>
    <p:sldId id="560" r:id="rId327"/>
    <p:sldId id="561" r:id="rId328"/>
    <p:sldId id="562" r:id="rId329"/>
    <p:sldId id="563" r:id="rId330"/>
    <p:sldId id="564" r:id="rId331"/>
    <p:sldId id="565" r:id="rId332"/>
    <p:sldId id="566" r:id="rId333"/>
    <p:sldId id="567" r:id="rId334"/>
    <p:sldId id="568" r:id="rId335"/>
    <p:sldId id="569" r:id="rId336"/>
    <p:sldId id="570" r:id="rId337"/>
    <p:sldId id="571" r:id="rId33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80C"/>
    <a:srgbClr val="0432FF"/>
    <a:srgbClr val="F2F6FA"/>
    <a:srgbClr val="F8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0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5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notesMaster" Target="notesMasters/notesMaster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presProps" Target="presProps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viewProps" Target="viewProps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theme" Target="theme/theme1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7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6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6.xml"/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코스 출발점. 이론 중심, 마지막에 짧은 포팅 실습.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Day1은 host 코드 위주.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공식: 'a subset of NumPy interface'.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basics 예제.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GPU면 신경 안 써도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 API 3종.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스트림 개념을 미리 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공식 'Differences' 문서.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2일 전체 지도.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이름·VRAM 보이면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방식 시간차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워밍업 필수(bench 자동).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5~10분.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NVIDIA/커뮤니티 GPU 아키텍처 자료(SM·warp 스케줄러·latency hiding).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Roofline model(NERSC/UW 강의). 대역폭이 FLOPS보다 병목인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benchmark 동작.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실행 빨라짐(캐시)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matmul이 손익분기 작은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 측정 습관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Roofline model. 손익분기·연산강도의 이론적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연속 메모리 블록.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np.* 코드가 GPU에서.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NumPy/CuPy ndarray 내부 구조(strides·contiguity).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중앙(저주파)만 남겨 고주파 잡음 제거.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대량 난수=GPU 강점.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rfft*rfft→irfft = 선형 컨볼루션.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CuPy fft / SciPy fft. 예제(2D 디노이즈·fftconv) 이론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PCA·solve·svd의 수학적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mc_pi 수렴 이론.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SciPy fft(dct). 예제 dct_compress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SciPy csr_matrix. 예제 A.data/indices/indptr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grad_magnitude·label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2D 푸아송 cg vs spsolve 배경.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memory 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vs total 차이=캐시.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심화: 환경/할당자 제어.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전송을 루프 밖으로.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GPU 생성 ② out= ③ GPU 누적.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GTC 예제 재구성.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OOM 방지·공유 환경.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pinned여야 오버랩 효과(06).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NVIDIA CUDA best practices(coalescing·128B/32B 트랜잭션·정렬).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GPU면 건너뜀.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독립 작업 동시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CUDA 스트림/이벤트 실행 모델·동시성.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GPU SM·warp 스케줄러·occupancy 자료(50~70% 포화).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NVIDIA 'How to Access Global Memory Efficiently'(128B/32B).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CUDA 공유메모리·뱅크·privatization.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병렬 알고리즘(리덕션/스캔) 복잡도·work-efficiency.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타일링·데이터 재사용·roofline 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DLPack 명세·CUDA Array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D3DC4916-E909-7194-CD9B-52F2CAC5E4E3}"/>
              </a:ext>
            </a:extLst>
          </p:cNvPr>
          <p:cNvGrpSpPr/>
          <p:nvPr userDrawn="1"/>
        </p:nvGrpSpPr>
        <p:grpSpPr>
          <a:xfrm>
            <a:off x="0" y="-22410"/>
            <a:ext cx="3046835" cy="10309409"/>
            <a:chOff x="0" y="-47625"/>
            <a:chExt cx="1079460" cy="2715235"/>
          </a:xfrm>
          <a:solidFill>
            <a:srgbClr val="1F497D">
              <a:lumMod val="20000"/>
              <a:lumOff val="80000"/>
            </a:srgbClr>
          </a:solidFill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7DF6E86D-7C40-78B9-56F8-D0B0E903E988}"/>
                </a:ext>
              </a:extLst>
            </p:cNvPr>
            <p:cNvSpPr/>
            <p:nvPr/>
          </p:nvSpPr>
          <p:spPr>
            <a:xfrm>
              <a:off x="0" y="0"/>
              <a:ext cx="1079460" cy="2667610"/>
            </a:xfrm>
            <a:custGeom>
              <a:avLst/>
              <a:gdLst/>
              <a:ahLst/>
              <a:cxnLst/>
              <a:rect l="l" t="t" r="r" b="b"/>
              <a:pathLst>
                <a:path w="1079460" h="2709333">
                  <a:moveTo>
                    <a:pt x="0" y="0"/>
                  </a:moveTo>
                  <a:lnTo>
                    <a:pt x="1079460" y="0"/>
                  </a:lnTo>
                  <a:lnTo>
                    <a:pt x="1079460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F9B58162-A459-8730-62C1-51566E9DACEB}"/>
                </a:ext>
              </a:extLst>
            </p:cNvPr>
            <p:cNvSpPr txBox="1"/>
            <p:nvPr/>
          </p:nvSpPr>
          <p:spPr>
            <a:xfrm>
              <a:off x="0" y="-47625"/>
              <a:ext cx="1079460" cy="27152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94E57A7-0F91-D2FD-AF53-E682A5B5A2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75" r="-3161" b="56390"/>
          <a:stretch/>
        </p:blipFill>
        <p:spPr>
          <a:xfrm>
            <a:off x="381000" y="9548110"/>
            <a:ext cx="2278861" cy="5760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AFECBA-D753-4ED4-9D78-801019FEFF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817772"/>
            <a:ext cx="2278861" cy="480682"/>
          </a:xfrm>
          <a:prstGeom prst="rect">
            <a:avLst/>
          </a:prstGeom>
        </p:spPr>
      </p:pic>
      <p:sp>
        <p:nvSpPr>
          <p:cNvPr id="15" name="AutoShape 5">
            <a:extLst>
              <a:ext uri="{FF2B5EF4-FFF2-40B4-BE49-F238E27FC236}">
                <a16:creationId xmlns:a16="http://schemas.microsoft.com/office/drawing/2014/main" id="{60215AB2-0452-F2C7-4E02-292175EFAE88}"/>
              </a:ext>
            </a:extLst>
          </p:cNvPr>
          <p:cNvSpPr/>
          <p:nvPr userDrawn="1"/>
        </p:nvSpPr>
        <p:spPr>
          <a:xfrm>
            <a:off x="3048000" y="1104900"/>
            <a:ext cx="1524000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0EDBF9-9B32-56B0-B716-7722A8975477}"/>
              </a:ext>
            </a:extLst>
          </p:cNvPr>
          <p:cNvSpPr/>
          <p:nvPr userDrawn="1"/>
        </p:nvSpPr>
        <p:spPr>
          <a:xfrm>
            <a:off x="67622" y="458282"/>
            <a:ext cx="2911589" cy="12926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실무중심 </a:t>
            </a:r>
            <a:r>
              <a:rPr lang="en-US" altLang="ko-KR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HPC </a:t>
            </a:r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개발교육 </a:t>
            </a:r>
            <a:r>
              <a:rPr lang="en-US" altLang="ko-KR" sz="2600" b="1" dirty="0">
                <a:solidFill>
                  <a:srgbClr val="008EFF"/>
                </a:solidFill>
                <a:latin typeface="맑은 고딕" panose="020B0503020000020004" pitchFamily="50" charset="-127"/>
              </a:rPr>
              <a:t>HPC </a:t>
            </a:r>
            <a:r>
              <a:rPr lang="en-US" altLang="ko-KR" sz="2600" b="1" dirty="0">
                <a:solidFill>
                  <a:srgbClr val="D64133"/>
                </a:solidFill>
                <a:latin typeface="맑은 고딕" panose="020B0503020000020004" pitchFamily="50" charset="-127"/>
              </a:rPr>
              <a:t>RUN-UP! 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2C7BC77-DE30-70DF-EB88-49DEE5D7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995" y="332509"/>
            <a:ext cx="14044353" cy="673741"/>
          </a:xfrm>
          <a:prstGeom prst="rect">
            <a:avLst/>
          </a:prstGeom>
        </p:spPr>
        <p:txBody>
          <a:bodyPr anchor="ctr"/>
          <a:lstStyle>
            <a:lvl1pPr algn="l">
              <a:defRPr sz="32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3293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D3DC4916-E909-7194-CD9B-52F2CAC5E4E3}"/>
              </a:ext>
            </a:extLst>
          </p:cNvPr>
          <p:cNvGrpSpPr/>
          <p:nvPr userDrawn="1"/>
        </p:nvGrpSpPr>
        <p:grpSpPr>
          <a:xfrm>
            <a:off x="0" y="-22410"/>
            <a:ext cx="3046835" cy="10309409"/>
            <a:chOff x="0" y="-47625"/>
            <a:chExt cx="1079460" cy="2715235"/>
          </a:xfrm>
          <a:solidFill>
            <a:srgbClr val="1F497D">
              <a:lumMod val="20000"/>
              <a:lumOff val="80000"/>
            </a:srgbClr>
          </a:solidFill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7DF6E86D-7C40-78B9-56F8-D0B0E903E988}"/>
                </a:ext>
              </a:extLst>
            </p:cNvPr>
            <p:cNvSpPr/>
            <p:nvPr/>
          </p:nvSpPr>
          <p:spPr>
            <a:xfrm>
              <a:off x="0" y="0"/>
              <a:ext cx="1079460" cy="2667610"/>
            </a:xfrm>
            <a:custGeom>
              <a:avLst/>
              <a:gdLst/>
              <a:ahLst/>
              <a:cxnLst/>
              <a:rect l="l" t="t" r="r" b="b"/>
              <a:pathLst>
                <a:path w="1079460" h="2709333">
                  <a:moveTo>
                    <a:pt x="0" y="0"/>
                  </a:moveTo>
                  <a:lnTo>
                    <a:pt x="1079460" y="0"/>
                  </a:lnTo>
                  <a:lnTo>
                    <a:pt x="1079460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F9B58162-A459-8730-62C1-51566E9DACEB}"/>
                </a:ext>
              </a:extLst>
            </p:cNvPr>
            <p:cNvSpPr txBox="1"/>
            <p:nvPr/>
          </p:nvSpPr>
          <p:spPr>
            <a:xfrm>
              <a:off x="0" y="-47625"/>
              <a:ext cx="1079460" cy="27152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94E57A7-0F91-D2FD-AF53-E682A5B5A2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75" r="-3161" b="56390"/>
          <a:stretch/>
        </p:blipFill>
        <p:spPr>
          <a:xfrm>
            <a:off x="381000" y="9548110"/>
            <a:ext cx="2278861" cy="5760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AFECBA-D753-4ED4-9D78-801019FEFF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817772"/>
            <a:ext cx="2278861" cy="480682"/>
          </a:xfrm>
          <a:prstGeom prst="rect">
            <a:avLst/>
          </a:prstGeom>
        </p:spPr>
      </p:pic>
      <p:sp>
        <p:nvSpPr>
          <p:cNvPr id="15" name="AutoShape 5">
            <a:extLst>
              <a:ext uri="{FF2B5EF4-FFF2-40B4-BE49-F238E27FC236}">
                <a16:creationId xmlns:a16="http://schemas.microsoft.com/office/drawing/2014/main" id="{60215AB2-0452-F2C7-4E02-292175EFAE88}"/>
              </a:ext>
            </a:extLst>
          </p:cNvPr>
          <p:cNvSpPr/>
          <p:nvPr userDrawn="1"/>
        </p:nvSpPr>
        <p:spPr>
          <a:xfrm>
            <a:off x="3048000" y="1104900"/>
            <a:ext cx="1524000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0EDBF9-9B32-56B0-B716-7722A8975477}"/>
              </a:ext>
            </a:extLst>
          </p:cNvPr>
          <p:cNvSpPr/>
          <p:nvPr userDrawn="1"/>
        </p:nvSpPr>
        <p:spPr>
          <a:xfrm>
            <a:off x="67622" y="458282"/>
            <a:ext cx="2911589" cy="12926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실무중심 </a:t>
            </a:r>
            <a:r>
              <a:rPr lang="en-US" altLang="ko-KR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HPC </a:t>
            </a:r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개발교육 </a:t>
            </a:r>
            <a:r>
              <a:rPr lang="en-US" altLang="ko-KR" sz="2600" b="1" dirty="0">
                <a:solidFill>
                  <a:srgbClr val="008EFF"/>
                </a:solidFill>
                <a:latin typeface="맑은 고딕" panose="020B0503020000020004" pitchFamily="50" charset="-127"/>
              </a:rPr>
              <a:t>HPC </a:t>
            </a:r>
            <a:r>
              <a:rPr lang="en-US" altLang="ko-KR" sz="2600" b="1" dirty="0">
                <a:solidFill>
                  <a:srgbClr val="D64133"/>
                </a:solidFill>
                <a:latin typeface="맑은 고딕" panose="020B0503020000020004" pitchFamily="50" charset="-127"/>
              </a:rPr>
              <a:t>RUN-UP! 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2C7BC77-DE30-70DF-EB88-49DEE5D7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995" y="332509"/>
            <a:ext cx="14044353" cy="673741"/>
          </a:xfrm>
          <a:prstGeom prst="rect">
            <a:avLst/>
          </a:prstGeom>
        </p:spPr>
        <p:txBody>
          <a:bodyPr anchor="ctr"/>
          <a:lstStyle>
            <a:lvl1pPr algn="l">
              <a:defRPr sz="32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F89DD4C4-D9DF-721B-8B9A-40C9C6AB0E08}"/>
              </a:ext>
            </a:extLst>
          </p:cNvPr>
          <p:cNvSpPr/>
          <p:nvPr userDrawn="1"/>
        </p:nvSpPr>
        <p:spPr>
          <a:xfrm>
            <a:off x="3245084" y="1443033"/>
            <a:ext cx="14661916" cy="8105015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F249CFB0-598C-AD9C-A130-965D3BC05E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95994" y="1463041"/>
            <a:ext cx="14611005" cy="7835413"/>
          </a:xfrm>
          <a:prstGeom prst="rect">
            <a:avLst/>
          </a:prstGeom>
          <a:solidFill>
            <a:srgbClr val="F8FBFD"/>
          </a:solidFill>
        </p:spPr>
        <p:txBody>
          <a:bodyPr/>
          <a:lstStyle>
            <a:lvl1pPr>
              <a:spcBef>
                <a:spcPts val="900"/>
              </a:spcBef>
              <a:defRPr sz="24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spcBef>
                <a:spcPts val="900"/>
              </a:spcBef>
              <a:defRPr sz="20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>
              <a:spcBef>
                <a:spcPts val="900"/>
              </a:spcBef>
              <a:defRPr sz="18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D3DC4916-E909-7194-CD9B-52F2CAC5E4E3}"/>
              </a:ext>
            </a:extLst>
          </p:cNvPr>
          <p:cNvGrpSpPr/>
          <p:nvPr userDrawn="1"/>
        </p:nvGrpSpPr>
        <p:grpSpPr>
          <a:xfrm>
            <a:off x="0" y="-22410"/>
            <a:ext cx="3046835" cy="10309409"/>
            <a:chOff x="0" y="-47625"/>
            <a:chExt cx="1079460" cy="2715235"/>
          </a:xfrm>
          <a:solidFill>
            <a:srgbClr val="1F497D">
              <a:lumMod val="20000"/>
              <a:lumOff val="80000"/>
            </a:srgbClr>
          </a:solidFill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7DF6E86D-7C40-78B9-56F8-D0B0E903E988}"/>
                </a:ext>
              </a:extLst>
            </p:cNvPr>
            <p:cNvSpPr/>
            <p:nvPr/>
          </p:nvSpPr>
          <p:spPr>
            <a:xfrm>
              <a:off x="0" y="0"/>
              <a:ext cx="1079460" cy="2667610"/>
            </a:xfrm>
            <a:custGeom>
              <a:avLst/>
              <a:gdLst/>
              <a:ahLst/>
              <a:cxnLst/>
              <a:rect l="l" t="t" r="r" b="b"/>
              <a:pathLst>
                <a:path w="1079460" h="2709333">
                  <a:moveTo>
                    <a:pt x="0" y="0"/>
                  </a:moveTo>
                  <a:lnTo>
                    <a:pt x="1079460" y="0"/>
                  </a:lnTo>
                  <a:lnTo>
                    <a:pt x="1079460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F9B58162-A459-8730-62C1-51566E9DACEB}"/>
                </a:ext>
              </a:extLst>
            </p:cNvPr>
            <p:cNvSpPr txBox="1"/>
            <p:nvPr/>
          </p:nvSpPr>
          <p:spPr>
            <a:xfrm>
              <a:off x="0" y="-47625"/>
              <a:ext cx="1079460" cy="27152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94E57A7-0F91-D2FD-AF53-E682A5B5A2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75" r="-3161" b="56390"/>
          <a:stretch/>
        </p:blipFill>
        <p:spPr>
          <a:xfrm>
            <a:off x="381000" y="9548110"/>
            <a:ext cx="2278861" cy="5760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AFECBA-D753-4ED4-9D78-801019FEFF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817772"/>
            <a:ext cx="2278861" cy="480682"/>
          </a:xfrm>
          <a:prstGeom prst="rect">
            <a:avLst/>
          </a:prstGeom>
        </p:spPr>
      </p:pic>
      <p:sp>
        <p:nvSpPr>
          <p:cNvPr id="15" name="AutoShape 5">
            <a:extLst>
              <a:ext uri="{FF2B5EF4-FFF2-40B4-BE49-F238E27FC236}">
                <a16:creationId xmlns:a16="http://schemas.microsoft.com/office/drawing/2014/main" id="{60215AB2-0452-F2C7-4E02-292175EFAE88}"/>
              </a:ext>
            </a:extLst>
          </p:cNvPr>
          <p:cNvSpPr/>
          <p:nvPr userDrawn="1"/>
        </p:nvSpPr>
        <p:spPr>
          <a:xfrm>
            <a:off x="3048000" y="1104900"/>
            <a:ext cx="1524000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0EDBF9-9B32-56B0-B716-7722A8975477}"/>
              </a:ext>
            </a:extLst>
          </p:cNvPr>
          <p:cNvSpPr/>
          <p:nvPr userDrawn="1"/>
        </p:nvSpPr>
        <p:spPr>
          <a:xfrm>
            <a:off x="67622" y="458282"/>
            <a:ext cx="2911589" cy="12926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실무중심 </a:t>
            </a:r>
            <a:r>
              <a:rPr lang="en-US" altLang="ko-KR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HPC </a:t>
            </a:r>
            <a:r>
              <a:rPr lang="ko-KR" altLang="en-US" sz="2600" b="1" dirty="0">
                <a:solidFill>
                  <a:srgbClr val="404041"/>
                </a:solidFill>
                <a:latin typeface="맑은 고딕" panose="020B0503020000020004" pitchFamily="50" charset="-127"/>
              </a:rPr>
              <a:t>개발교육 </a:t>
            </a:r>
            <a:r>
              <a:rPr lang="en-US" altLang="ko-KR" sz="2600" b="1" dirty="0">
                <a:solidFill>
                  <a:srgbClr val="008EFF"/>
                </a:solidFill>
                <a:latin typeface="맑은 고딕" panose="020B0503020000020004" pitchFamily="50" charset="-127"/>
              </a:rPr>
              <a:t>HPC </a:t>
            </a:r>
            <a:r>
              <a:rPr lang="en-US" altLang="ko-KR" sz="2600" b="1" dirty="0">
                <a:solidFill>
                  <a:srgbClr val="D64133"/>
                </a:solidFill>
                <a:latin typeface="맑은 고딕" panose="020B0503020000020004" pitchFamily="50" charset="-127"/>
              </a:rPr>
              <a:t>RUN-UP! 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E2C7BC77-DE30-70DF-EB88-49DEE5D7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995" y="332509"/>
            <a:ext cx="14044353" cy="673741"/>
          </a:xfrm>
          <a:prstGeom prst="rect">
            <a:avLst/>
          </a:prstGeom>
        </p:spPr>
        <p:txBody>
          <a:bodyPr anchor="ctr"/>
          <a:lstStyle>
            <a:lvl1pPr algn="l">
              <a:defRPr sz="32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A0FCC1F0-CB1E-CA0B-E260-84B780FF95E7}"/>
              </a:ext>
            </a:extLst>
          </p:cNvPr>
          <p:cNvSpPr/>
          <p:nvPr userDrawn="1"/>
        </p:nvSpPr>
        <p:spPr>
          <a:xfrm>
            <a:off x="3291841" y="1434694"/>
            <a:ext cx="6995160" cy="7863758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77CEC3-4A65-EDA6-F20B-3947BCF38DAF}"/>
              </a:ext>
            </a:extLst>
          </p:cNvPr>
          <p:cNvSpPr/>
          <p:nvPr userDrawn="1"/>
        </p:nvSpPr>
        <p:spPr>
          <a:xfrm>
            <a:off x="10702636" y="1434694"/>
            <a:ext cx="7155596" cy="7863758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F249CFB0-598C-AD9C-A130-965D3BC05E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95995" y="1463041"/>
            <a:ext cx="6991006" cy="7389265"/>
          </a:xfrm>
          <a:prstGeom prst="rect">
            <a:avLst/>
          </a:prstGeom>
          <a:solidFill>
            <a:srgbClr val="F8FBFD"/>
          </a:solidFill>
        </p:spPr>
        <p:txBody>
          <a:bodyPr/>
          <a:lstStyle>
            <a:lvl1pPr>
              <a:spcBef>
                <a:spcPts val="900"/>
              </a:spcBef>
              <a:defRPr sz="24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spcBef>
                <a:spcPts val="900"/>
              </a:spcBef>
              <a:defRPr sz="20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>
              <a:spcBef>
                <a:spcPts val="900"/>
              </a:spcBef>
              <a:defRPr sz="18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내용 개체 틀 19">
            <a:extLst>
              <a:ext uri="{FF2B5EF4-FFF2-40B4-BE49-F238E27FC236}">
                <a16:creationId xmlns:a16="http://schemas.microsoft.com/office/drawing/2014/main" id="{F8FDFF45-4BB6-93B3-0428-D35E56128CB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784931" y="1463041"/>
            <a:ext cx="6991006" cy="7389265"/>
          </a:xfrm>
          <a:prstGeom prst="rect">
            <a:avLst/>
          </a:prstGeom>
          <a:solidFill>
            <a:srgbClr val="F2F6FA"/>
          </a:solidFill>
        </p:spPr>
        <p:txBody>
          <a:bodyPr/>
          <a:lstStyle>
            <a:lvl1pPr>
              <a:spcBef>
                <a:spcPts val="900"/>
              </a:spcBef>
              <a:defRPr sz="2400" b="1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spcBef>
                <a:spcPts val="900"/>
              </a:spcBef>
              <a:defRPr sz="20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>
              <a:spcBef>
                <a:spcPts val="900"/>
              </a:spcBef>
              <a:defRPr sz="18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spcBef>
                <a:spcPts val="900"/>
              </a:spcBef>
              <a:defRPr sz="16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9019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B%AA%85%EB%A0%B9%EC%96%B4_%EC%A7%91%ED%95%A9" TargetMode="External"/><Relationship Id="rId2" Type="http://schemas.openxmlformats.org/officeDocument/2006/relationships/hyperlink" Target="https://namu.wiki/w/GPGP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mu.wiki/w/CPU" TargetMode="External"/><Relationship Id="rId4" Type="http://schemas.openxmlformats.org/officeDocument/2006/relationships/hyperlink" Target="https://ko.wikipedia.org/wiki/%EC%BB%B4%ED%93%A8%ED%8A%B8_%EC%BB%A4%EB%84%90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8.xml"/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2968" y="324612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</a:t>
            </a:r>
            <a:r>
              <a:rPr 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CUDA</a:t>
            </a:r>
            <a:r>
              <a:rPr lang="ko-KR" alt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기반 </a:t>
            </a:r>
            <a:r>
              <a:rPr 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</a:t>
            </a:r>
            <a:r>
              <a:rPr lang="ko-KR" alt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가속 </a:t>
            </a:r>
            <a:r>
              <a:rPr lang="ko-KR" altLang="en-US" sz="48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파이선</a:t>
            </a:r>
            <a:r>
              <a:rPr lang="ko-KR" alt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프로그래밍 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E34EDBDC-FF9C-0EB5-39AF-D1D19A76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10896"/>
            <a:ext cx="1426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    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453689" y="1677010"/>
            <a:ext cx="6959498" cy="598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CuPy 기초와 성능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GPU 컴퓨팅 &amp; CuPy 개론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NumPy vs CuPy 벤치마크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ndarray 핵심 &amp; 포팅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NumPy 루틴 (linalg·fft·random)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SciPy 루틴 (cupyx.scipy)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메모리 관리 &amp; 성능측정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스트림 &amp; 비동기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18266" y="1677010"/>
            <a:ext cx="6959498" cy="598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커스텀 커널과 통합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CUDA 커널 개념 &amp; CuPy 커널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Numba CUDA — 복사 커널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Numba CUDA — 히스토그램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cuda-cccl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RawKernel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프레임워크 상호운용</a:t>
            </a:r>
            <a:endParaRPr lang="en-US" sz="3000" dirty="0"/>
          </a:p>
          <a:p>
            <a:pPr marL="317500" indent="-3175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딥러닝 전처리 캡스톤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1 · 노트북 00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컴퓨팅 &amp; CuPy 개론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GPU인가 · 프로그래밍 모델 · CuPy 소개 · 디바이스/스트림 · 비동기/전송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>
            <a:extLst>
              <a:ext uri="{FF2B5EF4-FFF2-40B4-BE49-F238E27FC236}">
                <a16:creationId xmlns:a16="http://schemas.microsoft.com/office/drawing/2014/main" id="{B269374C-E099-D0C4-F6B0-8F23477C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 및 진행 방향</a:t>
            </a:r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092E160C-6302-E70B-930F-8AC0AC00BD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" altLang="ko-KR" dirty="0"/>
              <a:t>CPU vs GPU: Latency vs Throughput</a:t>
            </a:r>
          </a:p>
          <a:p>
            <a:r>
              <a:rPr lang="en" altLang="ko-KR" dirty="0"/>
              <a:t>GPU </a:t>
            </a:r>
            <a:r>
              <a:rPr lang="ko-KR" altLang="en-US" dirty="0"/>
              <a:t>프로그래밍 모델</a:t>
            </a:r>
            <a:r>
              <a:rPr lang="en-US" altLang="ko-KR" dirty="0"/>
              <a:t>·</a:t>
            </a:r>
            <a:r>
              <a:rPr lang="en" altLang="ko-KR" dirty="0"/>
              <a:t>SIMT</a:t>
            </a:r>
          </a:p>
          <a:p>
            <a:r>
              <a:rPr lang="en" altLang="ko-KR" dirty="0" err="1"/>
              <a:t>CuPy</a:t>
            </a:r>
            <a:r>
              <a:rPr lang="en" altLang="ko-KR" dirty="0"/>
              <a:t> = NumPy/SciPy </a:t>
            </a:r>
            <a:r>
              <a:rPr lang="ko-KR" altLang="en-US" dirty="0"/>
              <a:t>드롭인 대체</a:t>
            </a:r>
          </a:p>
          <a:p>
            <a:r>
              <a:rPr lang="en" altLang="ko-KR" dirty="0"/>
              <a:t>current device/stream·</a:t>
            </a:r>
            <a:r>
              <a:rPr lang="ko-KR" altLang="en-US" dirty="0"/>
              <a:t>전송</a:t>
            </a:r>
            <a:r>
              <a:rPr lang="en-US" altLang="ko-KR" dirty="0"/>
              <a:t>·</a:t>
            </a:r>
            <a:r>
              <a:rPr lang="ko-KR" altLang="en-US" dirty="0"/>
              <a:t>비동기</a:t>
            </a:r>
          </a:p>
          <a:p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EE23B56-2A44-96DA-2878-461F86E7FB0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</a:t>
            </a:r>
            <a:r>
              <a:rPr lang="en" altLang="ko-KR" dirty="0"/>
              <a:t>GPU</a:t>
            </a:r>
            <a:r>
              <a:rPr lang="ko-KR" altLang="en-US" dirty="0"/>
              <a:t>인가</a:t>
            </a:r>
          </a:p>
          <a:p>
            <a:r>
              <a:rPr lang="ko-KR" altLang="en-US" dirty="0"/>
              <a:t>프로그래밍 모델 </a:t>
            </a:r>
          </a:p>
          <a:p>
            <a:r>
              <a:rPr lang="en" altLang="ko-KR" dirty="0" err="1"/>
              <a:t>CuPy</a:t>
            </a:r>
            <a:r>
              <a:rPr lang="en" altLang="ko-KR" dirty="0"/>
              <a:t> </a:t>
            </a:r>
            <a:r>
              <a:rPr lang="ko-KR" altLang="en-US" dirty="0"/>
              <a:t>소개</a:t>
            </a:r>
            <a:r>
              <a:rPr lang="en-US" altLang="ko-KR" dirty="0"/>
              <a:t>·</a:t>
            </a:r>
            <a:r>
              <a:rPr lang="ko-KR" altLang="en-US" dirty="0"/>
              <a:t>디바이스</a:t>
            </a:r>
            <a:r>
              <a:rPr lang="en-US" altLang="ko-KR" dirty="0"/>
              <a:t>·</a:t>
            </a:r>
            <a:r>
              <a:rPr lang="ko-KR" altLang="en-US" dirty="0"/>
              <a:t>차이점 </a:t>
            </a:r>
          </a:p>
          <a:p>
            <a:r>
              <a:rPr lang="ko-KR" altLang="en-US" dirty="0"/>
              <a:t>환경</a:t>
            </a:r>
            <a:r>
              <a:rPr lang="en-US" altLang="ko-KR" dirty="0"/>
              <a:t>·</a:t>
            </a:r>
            <a:r>
              <a:rPr lang="ko-KR" altLang="en-US" dirty="0"/>
              <a:t>첫 연산</a:t>
            </a:r>
            <a:r>
              <a:rPr lang="en-US" altLang="ko-KR" dirty="0"/>
              <a:t>·</a:t>
            </a:r>
            <a:r>
              <a:rPr lang="ko-KR" altLang="en-US" dirty="0"/>
              <a:t>측정</a:t>
            </a:r>
            <a:r>
              <a:rPr lang="en-US" altLang="ko-KR" dirty="0"/>
              <a:t>·</a:t>
            </a:r>
            <a:r>
              <a:rPr lang="ko-KR" altLang="en-US" dirty="0"/>
              <a:t>전송 </a:t>
            </a:r>
          </a:p>
          <a:p>
            <a:r>
              <a:rPr lang="ko-KR" altLang="en-US" dirty="0"/>
              <a:t>실습 포팅</a:t>
            </a:r>
          </a:p>
          <a:p>
            <a:endParaRPr lang="ko-KR" altLang="en-US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CB56B68-8E41-FD41-D813-817B4FA71A5A}"/>
              </a:ext>
            </a:extLst>
          </p:cNvPr>
          <p:cNvSpPr/>
          <p:nvPr/>
        </p:nvSpPr>
        <p:spPr>
          <a:xfrm>
            <a:off x="3514288" y="1463041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학습 목표</a:t>
            </a:r>
            <a:endParaRPr lang="en-US" sz="3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9809051-1001-CA62-7A76-AFDA9793DC63}"/>
              </a:ext>
            </a:extLst>
          </p:cNvPr>
          <p:cNvSpPr/>
          <p:nvPr/>
        </p:nvSpPr>
        <p:spPr>
          <a:xfrm>
            <a:off x="3407970" y="8707178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endParaRPr lang="en-US" sz="25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A9C1505-3FE9-E59A-AEF2-AF05EFBDEFED}"/>
              </a:ext>
            </a:extLst>
          </p:cNvPr>
          <p:cNvSpPr/>
          <p:nvPr/>
        </p:nvSpPr>
        <p:spPr>
          <a:xfrm>
            <a:off x="11003224" y="1504364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EA580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진행</a:t>
            </a:r>
            <a:r>
              <a:rPr lang="ko-KR" altLang="en-US" sz="3200" b="1" dirty="0">
                <a:solidFill>
                  <a:srgbClr val="EA580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 방향</a:t>
            </a:r>
            <a:endParaRPr lang="en-US" sz="3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3CAA5F5-B2BB-F9D0-A235-EEF6FB95BBF8}"/>
              </a:ext>
            </a:extLst>
          </p:cNvPr>
          <p:cNvSpPr/>
          <p:nvPr/>
        </p:nvSpPr>
        <p:spPr>
          <a:xfrm>
            <a:off x="10772547" y="8707178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2FF60D3-FF86-AB82-9F9D-48CB47CD9C36}"/>
              </a:ext>
            </a:extLst>
          </p:cNvPr>
          <p:cNvSpPr/>
          <p:nvPr/>
        </p:nvSpPr>
        <p:spPr>
          <a:xfrm>
            <a:off x="4160520" y="392853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0F6AC7F-DDF9-FA62-3A7C-AB197165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CPU vs. GPU</a:t>
            </a:r>
            <a:endParaRPr lang="ko-KR" altLang="en-US" dirty="0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94CF4438-E7B3-B9BA-8B81-97153D141E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소수의 강력한 코어</a:t>
            </a:r>
          </a:p>
          <a:p>
            <a:r>
              <a:rPr lang="ko-KR" altLang="en-US" dirty="0"/>
              <a:t>분기예측</a:t>
            </a:r>
            <a:r>
              <a:rPr lang="en-US" altLang="ko-KR" dirty="0"/>
              <a:t>·</a:t>
            </a:r>
            <a:r>
              <a:rPr lang="ko-KR" altLang="en-US" dirty="0"/>
              <a:t>대형 캐시</a:t>
            </a:r>
          </a:p>
          <a:p>
            <a:r>
              <a:rPr lang="ko-KR" altLang="en-US" dirty="0">
                <a:solidFill>
                  <a:srgbClr val="0432FF"/>
                </a:solidFill>
              </a:rPr>
              <a:t>낮은 지연시간</a:t>
            </a:r>
            <a:r>
              <a:rPr lang="en-US" altLang="ko-KR" dirty="0"/>
              <a:t>(</a:t>
            </a:r>
            <a:r>
              <a:rPr lang="ko-KR" altLang="en-US" dirty="0"/>
              <a:t>한 작업 빨리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순차</a:t>
            </a:r>
            <a:r>
              <a:rPr lang="en-US" altLang="ko-KR" dirty="0"/>
              <a:t>·</a:t>
            </a:r>
            <a:r>
              <a:rPr lang="ko-KR" altLang="en-US" dirty="0"/>
              <a:t>제어 흐름에 강함</a:t>
            </a:r>
          </a:p>
          <a:p>
            <a:endParaRPr lang="ko-KR" altLang="en-US" dirty="0"/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D62687EB-41D9-0F8A-76BB-F5C244678C0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수천 개의 단순 코어</a:t>
            </a:r>
            <a:r>
              <a:rPr lang="en-US" altLang="ko-KR" dirty="0"/>
              <a:t>(1</a:t>
            </a:r>
            <a:r>
              <a:rPr lang="en" altLang="ko-KR" dirty="0"/>
              <a:t>k~10k+)</a:t>
            </a:r>
          </a:p>
          <a:p>
            <a:r>
              <a:rPr lang="ko-KR" altLang="en-US" dirty="0"/>
              <a:t>대형 레지스터</a:t>
            </a:r>
            <a:r>
              <a:rPr lang="en-US" altLang="ko-KR" dirty="0"/>
              <a:t>·</a:t>
            </a:r>
            <a:r>
              <a:rPr lang="ko-KR" altLang="en-US" dirty="0"/>
              <a:t>고대역폭 메모리</a:t>
            </a:r>
          </a:p>
          <a:p>
            <a:r>
              <a:rPr lang="ko-KR" altLang="en-US" dirty="0">
                <a:solidFill>
                  <a:srgbClr val="EA580C"/>
                </a:solidFill>
              </a:rPr>
              <a:t>높은 처리량</a:t>
            </a:r>
            <a:r>
              <a:rPr lang="en-US" altLang="ko-KR" dirty="0"/>
              <a:t>(</a:t>
            </a:r>
            <a:r>
              <a:rPr lang="ko-KR" altLang="en-US" dirty="0"/>
              <a:t>많이 동시에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데이터 병렬에 강함</a:t>
            </a:r>
          </a:p>
          <a:p>
            <a:endParaRPr lang="ko-KR" altLang="en-US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C2719E3-C596-9053-5DD1-3AAC719A3B1D}"/>
              </a:ext>
            </a:extLst>
          </p:cNvPr>
          <p:cNvSpPr/>
          <p:nvPr/>
        </p:nvSpPr>
        <p:spPr>
          <a:xfrm>
            <a:off x="3533243" y="15417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D075078-314F-58A2-64B7-C057C27AFC55}"/>
              </a:ext>
            </a:extLst>
          </p:cNvPr>
          <p:cNvSpPr/>
          <p:nvPr/>
        </p:nvSpPr>
        <p:spPr>
          <a:xfrm>
            <a:off x="8339938" y="6412512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endParaRPr lang="en-US" sz="25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6872EC4-E199-8928-57A3-D41F5B275930}"/>
              </a:ext>
            </a:extLst>
          </p:cNvPr>
          <p:cNvSpPr/>
          <p:nvPr/>
        </p:nvSpPr>
        <p:spPr>
          <a:xfrm>
            <a:off x="10897820" y="15417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3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592309A-C7BA-6E30-FBF4-46EBAA54F71A}"/>
              </a:ext>
            </a:extLst>
          </p:cNvPr>
          <p:cNvSpPr/>
          <p:nvPr/>
        </p:nvSpPr>
        <p:spPr>
          <a:xfrm>
            <a:off x="15704515" y="6412512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endParaRPr lang="en-US" sz="2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ED766-2676-0A7B-0924-777FF53FDA03}"/>
              </a:ext>
            </a:extLst>
          </p:cNvPr>
          <p:cNvSpPr txBox="1"/>
          <p:nvPr/>
        </p:nvSpPr>
        <p:spPr>
          <a:xfrm>
            <a:off x="3533243" y="6412512"/>
            <a:ext cx="6554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255" indent="-352255">
              <a:buClr>
                <a:srgbClr val="3333FF"/>
              </a:buClr>
              <a:buFont typeface="Wingdings" pitchFamily="2" charset="2"/>
              <a:buChar char="u"/>
              <a:defRPr/>
            </a:pP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지연시간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:</a:t>
            </a: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 데이터 전송 시작까지 걸리는 시간</a:t>
            </a:r>
            <a:endParaRPr lang="en-US" altLang="ko-KR" sz="2400" dirty="0">
              <a:latin typeface="NanumGothic" panose="020D0604000000000000" pitchFamily="34" charset="-127"/>
              <a:ea typeface="NanumGothic" panose="020D0604000000000000" pitchFamily="34" charset="-127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FC8EB2-BBB5-4D93-A4EE-9931D1CAE2FE}"/>
              </a:ext>
            </a:extLst>
          </p:cNvPr>
          <p:cNvSpPr txBox="1"/>
          <p:nvPr/>
        </p:nvSpPr>
        <p:spPr>
          <a:xfrm>
            <a:off x="10972800" y="6412512"/>
            <a:ext cx="6554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255" indent="-352255">
              <a:buClr>
                <a:srgbClr val="3333FF"/>
              </a:buClr>
              <a:buFont typeface="Wingdings" pitchFamily="2" charset="2"/>
              <a:buChar char="u"/>
              <a:defRPr/>
            </a:pP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처리량 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:</a:t>
            </a: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 시간당 데이터 </a:t>
            </a:r>
            <a:r>
              <a:rPr lang="ko-KR" altLang="en-US" sz="2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전송량</a:t>
            </a:r>
            <a:endParaRPr lang="en-US" altLang="ko-KR" sz="2400" dirty="0">
              <a:latin typeface="NanumGothic" panose="020D0604000000000000" pitchFamily="34" charset="-127"/>
              <a:ea typeface="NanumGothic" panose="020D0604000000000000" pitchFamily="34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0B0A3-1C06-F453-6807-31AB217E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CPU vs. GPU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BE56F1-E731-0B80-77E7-4C80499453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" altLang="ko-KR" dirty="0"/>
              <a:t>low latency low throughput</a:t>
            </a:r>
          </a:p>
          <a:p>
            <a:r>
              <a:rPr kumimoji="1" lang="en" altLang="ko-KR" dirty="0"/>
              <a:t>low latency </a:t>
            </a:r>
            <a:r>
              <a:rPr kumimoji="1" lang="ko-KR" altLang="en-US" dirty="0"/>
              <a:t>위해 큰 캐시 필요</a:t>
            </a:r>
          </a:p>
          <a:p>
            <a:r>
              <a:rPr kumimoji="1" lang="en" altLang="ko-KR" dirty="0"/>
              <a:t>Tens of ALUs (ILP</a:t>
            </a:r>
            <a:r>
              <a:rPr kumimoji="1" lang="ko-KR" altLang="en-US" dirty="0"/>
              <a:t>가 제한적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복잡한 분기 처리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비순차</a:t>
            </a:r>
            <a:r>
              <a:rPr kumimoji="1" lang="en-US" altLang="ko-KR" dirty="0"/>
              <a:t>(</a:t>
            </a:r>
            <a:r>
              <a:rPr kumimoji="1" lang="en" altLang="ko-KR" dirty="0"/>
              <a:t>out-of-order), Speculative </a:t>
            </a:r>
            <a:r>
              <a:rPr kumimoji="1" lang="ko-KR" altLang="en-US" dirty="0"/>
              <a:t>실행 등 범용 목적</a:t>
            </a:r>
          </a:p>
          <a:p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D472E-050B-CFEA-1F84-BDF93BD6753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" altLang="ko-KR" dirty="0"/>
              <a:t>high latency high throughput</a:t>
            </a:r>
          </a:p>
          <a:p>
            <a:r>
              <a:rPr kumimoji="1" lang="en" altLang="ko-KR" dirty="0"/>
              <a:t>latency </a:t>
            </a:r>
            <a:r>
              <a:rPr kumimoji="1" lang="ko-KR" altLang="en-US" dirty="0"/>
              <a:t>영향 적게 받는 작업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ko-KR" altLang="en-US" dirty="0"/>
              <a:t>큰 캐시 불필요</a:t>
            </a:r>
          </a:p>
          <a:p>
            <a:r>
              <a:rPr kumimoji="1" lang="ko-KR" altLang="en-US" dirty="0"/>
              <a:t>더 많은 </a:t>
            </a:r>
            <a:r>
              <a:rPr kumimoji="1" lang="en" altLang="ko-KR" dirty="0"/>
              <a:t>ALUs </a:t>
            </a:r>
            <a:r>
              <a:rPr kumimoji="1" lang="ko-KR" altLang="en-US" dirty="0"/>
              <a:t>계산 위해 더 많은 스레드 실행 가능</a:t>
            </a:r>
          </a:p>
          <a:p>
            <a:r>
              <a:rPr kumimoji="1" lang="ko-KR" altLang="en-US" dirty="0"/>
              <a:t>데이터 병렬성을 갖는 단순 계산 실행에 최적</a:t>
            </a:r>
          </a:p>
          <a:p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7196E5DF-84CF-8AE1-AE40-EDDA8F89B1CE}"/>
              </a:ext>
            </a:extLst>
          </p:cNvPr>
          <p:cNvSpPr txBox="1">
            <a:spLocks/>
          </p:cNvSpPr>
          <p:nvPr/>
        </p:nvSpPr>
        <p:spPr>
          <a:xfrm>
            <a:off x="8936636" y="-1065782"/>
            <a:ext cx="8640960" cy="54726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CPU: GPU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B72B6D2-79A6-F21F-AA3A-42D7ECFE0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36"/>
          <a:stretch>
            <a:fillRect/>
          </a:stretch>
        </p:blipFill>
        <p:spPr bwMode="auto">
          <a:xfrm>
            <a:off x="4385503" y="5368563"/>
            <a:ext cx="4388383" cy="337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25CF8D4-EDB2-4FDE-459C-0561B41CD6C2}"/>
              </a:ext>
            </a:extLst>
          </p:cNvPr>
          <p:cNvSpPr/>
          <p:nvPr/>
        </p:nvSpPr>
        <p:spPr>
          <a:xfrm>
            <a:off x="3533243" y="15417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8FFEEDE-A80D-800D-24FC-DAD16634CF2E}"/>
              </a:ext>
            </a:extLst>
          </p:cNvPr>
          <p:cNvSpPr/>
          <p:nvPr/>
        </p:nvSpPr>
        <p:spPr>
          <a:xfrm>
            <a:off x="10897820" y="15417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32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66A40F1-6787-4BAA-92F1-B55A73BBD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70"/>
          <a:stretch>
            <a:fillRect/>
          </a:stretch>
        </p:blipFill>
        <p:spPr bwMode="auto">
          <a:xfrm>
            <a:off x="12213771" y="5368562"/>
            <a:ext cx="4286977" cy="337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965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9F29C2-D3D1-D858-E9C5-E72AE224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CPU </a:t>
            </a:r>
            <a:r>
              <a:rPr lang="ko-KR" altLang="en-US" dirty="0"/>
              <a:t>아키텍처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82E8EB-20BB-3895-882C-3E45389828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" altLang="ko-KR" dirty="0"/>
              <a:t>Intel Xeon Skylake 28-core architecture</a:t>
            </a:r>
          </a:p>
          <a:p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52492FC-3D96-7EE6-D2FB-7BD61A5927E5}"/>
              </a:ext>
            </a:extLst>
          </p:cNvPr>
          <p:cNvGrpSpPr/>
          <p:nvPr/>
        </p:nvGrpSpPr>
        <p:grpSpPr>
          <a:xfrm>
            <a:off x="3739821" y="2089076"/>
            <a:ext cx="8561559" cy="5732974"/>
            <a:chOff x="3986784" y="1887026"/>
            <a:chExt cx="7366827" cy="4932960"/>
          </a:xfrm>
        </p:grpSpPr>
        <p:pic>
          <p:nvPicPr>
            <p:cNvPr id="6" name="Picture 2" descr="https://upload.wikimedia.org/wikipedia/commons/thumb/4/46/Intel%4014nm%40Skylake%40Skylake-SP%28XCC%29%40Xeon%28ES%29%40QJW5_DSCx10%405x.jpg/2560px-Intel%4014nm%40Skylake%40Skylake-SP%28XCC%29%40Xeon%28ES%29%40QJW5_DSCx10%405x.jpg">
              <a:extLst>
                <a:ext uri="{FF2B5EF4-FFF2-40B4-BE49-F238E27FC236}">
                  <a16:creationId xmlns:a16="http://schemas.microsoft.com/office/drawing/2014/main" id="{FBC9A2D9-E7B0-B008-9FD5-4D6FC8512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784" y="1887026"/>
              <a:ext cx="7366827" cy="4932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5101A3-D3BB-0A49-748B-A72E7DC5DBF9}"/>
                </a:ext>
              </a:extLst>
            </p:cNvPr>
            <p:cNvSpPr/>
            <p:nvPr/>
          </p:nvSpPr>
          <p:spPr>
            <a:xfrm>
              <a:off x="4285728" y="2607126"/>
              <a:ext cx="1224170" cy="936130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ko-KR" altLang="en-US" sz="1400" dirty="0">
                <a:latin typeface="Arial" pitchFamily="34" charset="0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BC4174-2923-A38B-E801-80E61082FF80}"/>
                </a:ext>
              </a:extLst>
            </p:cNvPr>
            <p:cNvSpPr txBox="1"/>
            <p:nvPr/>
          </p:nvSpPr>
          <p:spPr>
            <a:xfrm>
              <a:off x="4285728" y="3173924"/>
              <a:ext cx="1008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  <a:sym typeface="Wingdings" pitchFamily="2" charset="2"/>
                </a:rPr>
                <a:t>Core</a:t>
              </a:r>
              <a:endParaRPr lang="ko-KR" altLang="en-US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endParaRPr>
            </a:p>
          </p:txBody>
        </p:sp>
      </p:grpSp>
      <p:pic>
        <p:nvPicPr>
          <p:cNvPr id="9" name="Picture 2" descr="https://upload.wikimedia.org/wikipedia/commons/thumb/4/46/Intel%4014nm%40Skylake%40Skylake-SP%28XCC%29%40Xeon%28ES%29%40QJW5_DSCx10%405x.jpg/2560px-Intel%4014nm%40Skylake%40Skylake-SP%28XCC%29%40Xeon%28ES%29%40QJW5_DSCx10%405x.jpg">
            <a:extLst>
              <a:ext uri="{FF2B5EF4-FFF2-40B4-BE49-F238E27FC236}">
                <a16:creationId xmlns:a16="http://schemas.microsoft.com/office/drawing/2014/main" id="{FCB4D547-3357-8897-1B34-F93D2B0B43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680691" y="5314140"/>
            <a:ext cx="5822059" cy="444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E95556-219A-BFE7-9C08-399A7CF8F2BD}"/>
              </a:ext>
            </a:extLst>
          </p:cNvPr>
          <p:cNvSpPr txBox="1"/>
          <p:nvPr/>
        </p:nvSpPr>
        <p:spPr>
          <a:xfrm>
            <a:off x="12380688" y="5674190"/>
            <a:ext cx="268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L3 cache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FD039-5844-D9E2-FA9E-EA2135B1338F}"/>
              </a:ext>
            </a:extLst>
          </p:cNvPr>
          <p:cNvSpPr txBox="1"/>
          <p:nvPr/>
        </p:nvSpPr>
        <p:spPr>
          <a:xfrm>
            <a:off x="12956618" y="9755245"/>
            <a:ext cx="268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Arial" pitchFamily="34" charset="0"/>
                <a:cs typeface="Arial" pitchFamily="34" charset="0"/>
                <a:sym typeface="Wingdings" pitchFamily="2" charset="2"/>
              </a:rPr>
              <a:t>Core</a:t>
            </a:r>
            <a:endParaRPr lang="ko-KR" altLang="en-US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5EE05D-C448-1EEA-CE7E-0C15DA95DCE3}"/>
              </a:ext>
            </a:extLst>
          </p:cNvPr>
          <p:cNvSpPr/>
          <p:nvPr/>
        </p:nvSpPr>
        <p:spPr>
          <a:xfrm>
            <a:off x="11902033" y="6185261"/>
            <a:ext cx="1512210" cy="64109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B0002-43CF-F4C1-4AD9-22396AEE10CC}"/>
              </a:ext>
            </a:extLst>
          </p:cNvPr>
          <p:cNvSpPr txBox="1"/>
          <p:nvPr/>
        </p:nvSpPr>
        <p:spPr>
          <a:xfrm>
            <a:off x="11974043" y="6327257"/>
            <a:ext cx="136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AVX512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367FDB-19F6-B080-9B67-A8C488013C2E}"/>
              </a:ext>
            </a:extLst>
          </p:cNvPr>
          <p:cNvSpPr/>
          <p:nvPr/>
        </p:nvSpPr>
        <p:spPr>
          <a:xfrm>
            <a:off x="15248793" y="6826351"/>
            <a:ext cx="1880662" cy="16562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B6E2B-B254-4F9B-6069-D9C0747656D7}"/>
              </a:ext>
            </a:extLst>
          </p:cNvPr>
          <p:cNvSpPr txBox="1"/>
          <p:nvPr/>
        </p:nvSpPr>
        <p:spPr>
          <a:xfrm>
            <a:off x="16062550" y="7112366"/>
            <a:ext cx="136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L2 cache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6" name="자유형: 도형 18">
            <a:extLst>
              <a:ext uri="{FF2B5EF4-FFF2-40B4-BE49-F238E27FC236}">
                <a16:creationId xmlns:a16="http://schemas.microsoft.com/office/drawing/2014/main" id="{2A118A37-615C-6D87-4E54-34E2A173BE97}"/>
              </a:ext>
            </a:extLst>
          </p:cNvPr>
          <p:cNvSpPr/>
          <p:nvPr/>
        </p:nvSpPr>
        <p:spPr>
          <a:xfrm>
            <a:off x="11974041" y="5529071"/>
            <a:ext cx="3148122" cy="1291525"/>
          </a:xfrm>
          <a:custGeom>
            <a:avLst/>
            <a:gdLst>
              <a:gd name="connsiteX0" fmla="*/ 0 w 3148122"/>
              <a:gd name="connsiteY0" fmla="*/ 0 h 1291525"/>
              <a:gd name="connsiteX1" fmla="*/ 3148121 w 3148122"/>
              <a:gd name="connsiteY1" fmla="*/ 0 h 1291525"/>
              <a:gd name="connsiteX2" fmla="*/ 3148121 w 3148122"/>
              <a:gd name="connsiteY2" fmla="*/ 642336 h 1291525"/>
              <a:gd name="connsiteX3" fmla="*/ 3148122 w 3148122"/>
              <a:gd name="connsiteY3" fmla="*/ 642336 h 1291525"/>
              <a:gd name="connsiteX4" fmla="*/ 3148122 w 3148122"/>
              <a:gd name="connsiteY4" fmla="*/ 1291525 h 1291525"/>
              <a:gd name="connsiteX5" fmla="*/ 1462684 w 3148122"/>
              <a:gd name="connsiteY5" fmla="*/ 1291525 h 1291525"/>
              <a:gd name="connsiteX6" fmla="*/ 1462684 w 3148122"/>
              <a:gd name="connsiteY6" fmla="*/ 649189 h 1291525"/>
              <a:gd name="connsiteX7" fmla="*/ 0 w 3148122"/>
              <a:gd name="connsiteY7" fmla="*/ 649189 h 129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48122" h="1291525">
                <a:moveTo>
                  <a:pt x="0" y="0"/>
                </a:moveTo>
                <a:lnTo>
                  <a:pt x="3148121" y="0"/>
                </a:lnTo>
                <a:lnTo>
                  <a:pt x="3148121" y="642336"/>
                </a:lnTo>
                <a:lnTo>
                  <a:pt x="3148122" y="642336"/>
                </a:lnTo>
                <a:lnTo>
                  <a:pt x="3148122" y="1291525"/>
                </a:lnTo>
                <a:lnTo>
                  <a:pt x="1462684" y="1291525"/>
                </a:lnTo>
                <a:lnTo>
                  <a:pt x="1462684" y="649189"/>
                </a:lnTo>
                <a:lnTo>
                  <a:pt x="0" y="649189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A9EEE-BED6-2536-0EEB-517672DEBF5A}"/>
              </a:ext>
            </a:extLst>
          </p:cNvPr>
          <p:cNvSpPr/>
          <p:nvPr/>
        </p:nvSpPr>
        <p:spPr>
          <a:xfrm>
            <a:off x="11902031" y="6820594"/>
            <a:ext cx="1512210" cy="138245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F2071-6738-9EC3-FA69-CAE44C2D20EC}"/>
              </a:ext>
            </a:extLst>
          </p:cNvPr>
          <p:cNvSpPr txBox="1"/>
          <p:nvPr/>
        </p:nvSpPr>
        <p:spPr>
          <a:xfrm>
            <a:off x="12026111" y="7128594"/>
            <a:ext cx="136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Execution</a:t>
            </a:r>
          </a:p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Unit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20191A-43C5-ACF0-0FD8-018C7C64BF4F}"/>
              </a:ext>
            </a:extLst>
          </p:cNvPr>
          <p:cNvSpPr txBox="1"/>
          <p:nvPr/>
        </p:nvSpPr>
        <p:spPr>
          <a:xfrm>
            <a:off x="12555873" y="2066787"/>
            <a:ext cx="5029200" cy="309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255" indent="-352255">
              <a:buClr>
                <a:srgbClr val="3333FF"/>
              </a:buClr>
              <a:buFont typeface="Wingdings" pitchFamily="2" charset="2"/>
              <a:buChar char="u"/>
              <a:defRPr/>
            </a:pPr>
            <a:r>
              <a: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Processor (Process runs)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r>
              <a:rPr lang="en-US" altLang="ko-KR" sz="2000" dirty="0"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Team of workers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endParaRPr lang="en-US" altLang="ko-KR" sz="900" dirty="0">
              <a:latin typeface="NanumGothic" panose="020D0604000000000000" pitchFamily="34" charset="-127"/>
              <a:ea typeface="NanumGothic" panose="020D0604000000000000" pitchFamily="34" charset="-127"/>
              <a:cs typeface="Arial" charset="0"/>
            </a:endParaRPr>
          </a:p>
          <a:p>
            <a:pPr marL="352255" indent="-352255">
              <a:buClr>
                <a:srgbClr val="3333FF"/>
              </a:buClr>
              <a:buFont typeface="Wingdings" pitchFamily="2" charset="2"/>
              <a:buChar char="u"/>
              <a:defRPr/>
            </a:pPr>
            <a:r>
              <a: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Core (Process / SW thread runs)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r>
              <a:rPr lang="en-US" altLang="ko-KR" sz="2000" dirty="0"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Individual worker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endParaRPr lang="en-US" altLang="ko-KR" sz="900" b="1" dirty="0">
              <a:latin typeface="NanumGothic" panose="020D0604000000000000" pitchFamily="34" charset="-127"/>
              <a:ea typeface="NanumGothic" panose="020D0604000000000000" pitchFamily="34" charset="-127"/>
              <a:cs typeface="Arial" charset="0"/>
            </a:endParaRPr>
          </a:p>
          <a:p>
            <a:pPr marL="352255" indent="-352255">
              <a:buClr>
                <a:srgbClr val="3333FF"/>
              </a:buClr>
              <a:buFont typeface="Wingdings" pitchFamily="2" charset="2"/>
              <a:buChar char="u"/>
              <a:defRPr/>
            </a:pPr>
            <a:r>
              <a: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charset="0"/>
              </a:rPr>
              <a:t>Hardware Thread (SW thread runs), Vector registers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r>
              <a:rPr lang="en-US" altLang="ko-KR" sz="2000" dirty="0">
                <a:latin typeface="NanumGothic" panose="020D0604000000000000" pitchFamily="34" charset="-127"/>
                <a:ea typeface="NanumGothic" panose="020D0604000000000000" pitchFamily="34" charset="-127"/>
                <a:cs typeface="Arial" pitchFamily="34" charset="0"/>
              </a:rPr>
              <a:t>Hands of worker</a:t>
            </a:r>
          </a:p>
          <a:p>
            <a:pPr marL="718633" indent="-316531" algn="just">
              <a:spcBef>
                <a:spcPct val="20000"/>
              </a:spcBef>
              <a:buClr>
                <a:srgbClr val="3333FF"/>
              </a:buClr>
              <a:buFont typeface="Arial" pitchFamily="34" charset="0"/>
              <a:buChar char="•"/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endParaRPr lang="en-US" altLang="ko-KR" sz="900" b="1" dirty="0">
              <a:latin typeface="NanumGothic" panose="020D0604000000000000" pitchFamily="34" charset="-127"/>
              <a:ea typeface="NanumGothic" panose="020D0604000000000000" pitchFamily="34" charset="-127"/>
              <a:cs typeface="Arial" charset="0"/>
            </a:endParaRPr>
          </a:p>
          <a:p>
            <a:pPr marL="402102" algn="just">
              <a:spcBef>
                <a:spcPct val="20000"/>
              </a:spcBef>
              <a:buClr>
                <a:srgbClr val="3333FF"/>
              </a:buClr>
              <a:tabLst>
                <a:tab pos="260845" algn="l"/>
                <a:tab pos="633062" algn="l"/>
                <a:tab pos="962782" algn="l"/>
                <a:tab pos="1406804" algn="l"/>
                <a:tab pos="1875739" algn="l"/>
                <a:tab pos="2344674" algn="l"/>
                <a:tab pos="2813609" algn="l"/>
                <a:tab pos="3282544" algn="l"/>
                <a:tab pos="3751478" algn="l"/>
                <a:tab pos="4220413" algn="l"/>
                <a:tab pos="4689348" algn="l"/>
                <a:tab pos="5158283" algn="l"/>
                <a:tab pos="5627218" algn="l"/>
                <a:tab pos="6096152" algn="l"/>
                <a:tab pos="6565087" algn="l"/>
                <a:tab pos="7034022" algn="l"/>
                <a:tab pos="7502957" algn="l"/>
                <a:tab pos="7971892" algn="l"/>
                <a:tab pos="8440826" algn="l"/>
                <a:tab pos="8909761" algn="l"/>
                <a:tab pos="9378696" algn="l"/>
                <a:tab pos="9847631" algn="l"/>
                <a:tab pos="10316566" algn="l"/>
                <a:tab pos="10785500" algn="l"/>
                <a:tab pos="11254435" algn="l"/>
                <a:tab pos="11723370" algn="l"/>
                <a:tab pos="12192305" algn="l"/>
                <a:tab pos="12661240" algn="l"/>
                <a:tab pos="13130174" algn="l"/>
                <a:tab pos="13599109" algn="l"/>
                <a:tab pos="14068044" algn="l"/>
                <a:tab pos="14536979" algn="l"/>
              </a:tabLst>
              <a:defRPr/>
            </a:pPr>
            <a:endParaRPr lang="en-US" altLang="ko-KR" sz="900" dirty="0">
              <a:latin typeface="NanumGothic" panose="020D0604000000000000" pitchFamily="34" charset="-127"/>
              <a:ea typeface="NanumGothic" panose="020D0604000000000000" pitchFamily="34" charset="-127"/>
              <a:cs typeface="Arial" pitchFamily="34" charset="0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3AB3B0E0-3F6A-F5E7-F153-D26ED8CB9B01}"/>
              </a:ext>
            </a:extLst>
          </p:cNvPr>
          <p:cNvCxnSpPr>
            <a:cxnSpLocks/>
          </p:cNvCxnSpPr>
          <p:nvPr/>
        </p:nvCxnSpPr>
        <p:spPr>
          <a:xfrm>
            <a:off x="5509950" y="2925960"/>
            <a:ext cx="6170741" cy="238818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C79E24D2-52B5-BC24-49B1-83DF039D484E}"/>
              </a:ext>
            </a:extLst>
          </p:cNvPr>
          <p:cNvCxnSpPr>
            <a:cxnSpLocks/>
          </p:cNvCxnSpPr>
          <p:nvPr/>
        </p:nvCxnSpPr>
        <p:spPr>
          <a:xfrm>
            <a:off x="4148061" y="4051019"/>
            <a:ext cx="7532630" cy="5704226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83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9524C-049B-EAE6-0AB5-CF113EF3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GPU </a:t>
            </a:r>
            <a:r>
              <a:rPr kumimoji="1" lang="ko-KR" altLang="en-US" dirty="0"/>
              <a:t>아키텍쳐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3193B-9C86-02A7-B35D-A19BD7E916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-US" altLang="ko-KR" dirty="0"/>
              <a:t>NVIDIA A100</a:t>
            </a:r>
            <a:endParaRPr kumimoji="1" lang="ko-KR" altLang="en-US" dirty="0"/>
          </a:p>
        </p:txBody>
      </p:sp>
      <p:pic>
        <p:nvPicPr>
          <p:cNvPr id="4" name="Picture 4" descr="https://blogfiles.pstatic.net/MjAyMDA2MjlfOTQg/MDAxNTkzNDE5NDI2NDgw.UtJCEQh_wST-JVqe-Vc7zTTW04Oe7KXl5ZVcERstJyMg.CMkzyOb-wOBBGNQub47Ik0gTSxassOAX6H7gGkPT-Y0g.PNG.uclick2016/%BD%BA%C5%A9%B8%B0%BC%A6_2020-06-29_%BF%C0%C8%C4_5.30.18.png">
            <a:extLst>
              <a:ext uri="{FF2B5EF4-FFF2-40B4-BE49-F238E27FC236}">
                <a16:creationId xmlns:a16="http://schemas.microsoft.com/office/drawing/2014/main" id="{E932BEBB-EE64-1656-88E3-13977127FB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25091" y="2330176"/>
            <a:ext cx="5886092" cy="455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67E0763-82D9-3584-D023-9E07B172BA58}"/>
              </a:ext>
            </a:extLst>
          </p:cNvPr>
          <p:cNvSpPr/>
          <p:nvPr/>
        </p:nvSpPr>
        <p:spPr>
          <a:xfrm>
            <a:off x="4290420" y="3859418"/>
            <a:ext cx="359766" cy="2880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FE7FE1-3484-2F40-6A95-146AF780C414}"/>
              </a:ext>
            </a:extLst>
          </p:cNvPr>
          <p:cNvSpPr/>
          <p:nvPr/>
        </p:nvSpPr>
        <p:spPr>
          <a:xfrm>
            <a:off x="4204845" y="4126381"/>
            <a:ext cx="530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SM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B9FC5F-2D40-7DC6-022C-9C9E0BC96BA9}"/>
              </a:ext>
            </a:extLst>
          </p:cNvPr>
          <p:cNvSpPr/>
          <p:nvPr/>
        </p:nvSpPr>
        <p:spPr>
          <a:xfrm>
            <a:off x="5068421" y="3454197"/>
            <a:ext cx="864120" cy="864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400" dirty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64C20A-575E-169B-8049-6534FEE7F256}"/>
              </a:ext>
            </a:extLst>
          </p:cNvPr>
          <p:cNvSpPr/>
          <p:nvPr/>
        </p:nvSpPr>
        <p:spPr>
          <a:xfrm>
            <a:off x="5010236" y="3084865"/>
            <a:ext cx="1172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L2 cache</a:t>
            </a:r>
            <a:endParaRPr lang="ko-KR" altLang="en-US" b="1" dirty="0">
              <a:solidFill>
                <a:srgbClr val="FFFF00"/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5805B2-C7ED-B033-69B9-F155D885E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033" y="2786967"/>
            <a:ext cx="8533557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1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3680A-63DF-3D7A-E0FB-1496EAF7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CPU vs GPU</a:t>
            </a:r>
            <a:r>
              <a:rPr kumimoji="1" lang="ko-KR" altLang="en-US" dirty="0"/>
              <a:t> 하드웨어 차이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64E29C7-0A53-839F-9F87-A91DB6C252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95994" y="7358743"/>
            <a:ext cx="14611005" cy="1939711"/>
          </a:xfrm>
        </p:spPr>
        <p:txBody>
          <a:bodyPr/>
          <a:lstStyle/>
          <a:p>
            <a:r>
              <a:rPr lang="ko-KR" altLang="en-US" dirty="0"/>
              <a:t>지연시간</a:t>
            </a:r>
            <a:r>
              <a:rPr lang="en-US" altLang="ko-KR" dirty="0"/>
              <a:t>(</a:t>
            </a:r>
            <a:r>
              <a:rPr lang="en" altLang="ko-KR" dirty="0"/>
              <a:t>latency): </a:t>
            </a:r>
            <a:r>
              <a:rPr lang="ko-KR" altLang="en-US" dirty="0"/>
              <a:t>하나의 작업을 끝내는 시간 </a:t>
            </a:r>
            <a:r>
              <a:rPr lang="en-US" altLang="ko-KR" dirty="0"/>
              <a:t>— </a:t>
            </a:r>
            <a:r>
              <a:rPr lang="en" altLang="ko-KR" dirty="0"/>
              <a:t>CPU</a:t>
            </a:r>
            <a:r>
              <a:rPr lang="ko-KR" altLang="en-US" dirty="0"/>
              <a:t>가 우위</a:t>
            </a:r>
          </a:p>
          <a:p>
            <a:r>
              <a:rPr lang="ko-KR" altLang="en-US" dirty="0"/>
              <a:t>처리량</a:t>
            </a:r>
            <a:r>
              <a:rPr lang="en-US" altLang="ko-KR" dirty="0"/>
              <a:t>(</a:t>
            </a:r>
            <a:r>
              <a:rPr lang="en" altLang="ko-KR" dirty="0"/>
              <a:t>throughput): </a:t>
            </a:r>
            <a:r>
              <a:rPr lang="ko-KR" altLang="en-US" dirty="0"/>
              <a:t>단위시간당 처리한 작업 수 </a:t>
            </a:r>
            <a:r>
              <a:rPr lang="en-US" altLang="ko-KR" dirty="0"/>
              <a:t>— </a:t>
            </a:r>
            <a:r>
              <a:rPr lang="en" altLang="ko-KR" dirty="0"/>
              <a:t>GPU</a:t>
            </a:r>
            <a:r>
              <a:rPr lang="ko-KR" altLang="en-US" dirty="0"/>
              <a:t>가 우위</a:t>
            </a:r>
          </a:p>
          <a:p>
            <a:endParaRPr lang="ko-KR" alt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BDE98366-F0A5-D7A5-D80D-7DE46F8F0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37979"/>
              </p:ext>
            </p:extLst>
          </p:nvPr>
        </p:nvGraphicFramePr>
        <p:xfrm>
          <a:off x="3453689" y="1757475"/>
          <a:ext cx="14242694" cy="5231154"/>
        </p:xfrm>
        <a:graphic>
          <a:graphicData uri="http://schemas.openxmlformats.org/drawingml/2006/table">
            <a:tbl>
              <a:tblPr/>
              <a:tblGrid>
                <a:gridCol w="356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1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코어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소수·강력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수천·단순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최적화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지연시간↓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처리량↑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대형 캐시·저지연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고대역폭(HBM)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대역폭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r>
                        <a:rPr lang="en-US" altLang="ko-KR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 GB/s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r>
                        <a:rPr lang="en-US" altLang="ko-KR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TB/s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순차·분기, OS/DB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병렬(행렬·신호·이미지)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41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0F75909-B693-B71D-D01E-01631ABE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GPU</a:t>
            </a:r>
            <a:r>
              <a:rPr lang="ko-KR" altLang="en-US" dirty="0"/>
              <a:t>가 유리한</a:t>
            </a:r>
            <a:r>
              <a:rPr lang="en-US" altLang="ko-KR" dirty="0"/>
              <a:t>/</a:t>
            </a:r>
            <a:r>
              <a:rPr lang="ko-KR" altLang="en-US" dirty="0"/>
              <a:t>불리한 작업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2C5BAC-F8E0-8BD1-16E8-06B59CFE0F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대규모 배열 연산</a:t>
            </a:r>
            <a:endParaRPr lang="en-US" altLang="ko-KR" dirty="0"/>
          </a:p>
          <a:p>
            <a:r>
              <a:rPr lang="ko-KR" altLang="en-US" dirty="0"/>
              <a:t>행렬곱</a:t>
            </a:r>
            <a:r>
              <a:rPr lang="en-US" altLang="ko-KR" dirty="0"/>
              <a:t>·</a:t>
            </a:r>
            <a:r>
              <a:rPr lang="en" altLang="ko-KR" dirty="0"/>
              <a:t>FFT·</a:t>
            </a:r>
            <a:r>
              <a:rPr lang="ko-KR" altLang="en-US" dirty="0" err="1"/>
              <a:t>컨볼루션</a:t>
            </a:r>
            <a:endParaRPr lang="ko-KR" altLang="en-US" dirty="0"/>
          </a:p>
          <a:p>
            <a:r>
              <a:rPr lang="ko-KR" altLang="en-US" dirty="0"/>
              <a:t>배치</a:t>
            </a:r>
            <a:r>
              <a:rPr lang="en-US" altLang="ko-KR" dirty="0"/>
              <a:t>(</a:t>
            </a:r>
            <a:r>
              <a:rPr lang="ko-KR" altLang="en-US" dirty="0"/>
              <a:t>많은 독립 작업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높은 연산 강도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6F0219-28B4-AF0D-5843-4C2BC520631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작은 배열</a:t>
            </a:r>
            <a:r>
              <a:rPr lang="en-US" altLang="ko-KR" dirty="0"/>
              <a:t>(</a:t>
            </a:r>
            <a:r>
              <a:rPr lang="ko-KR" altLang="en-US" dirty="0"/>
              <a:t>런치 오버헤드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순차 의존이 강한 로직</a:t>
            </a:r>
          </a:p>
          <a:p>
            <a:r>
              <a:rPr lang="ko-KR" altLang="en-US" dirty="0"/>
              <a:t>분기 많은 제어</a:t>
            </a:r>
          </a:p>
          <a:p>
            <a:r>
              <a:rPr lang="ko-KR" altLang="en-US" dirty="0"/>
              <a:t>잦은 </a:t>
            </a:r>
            <a:r>
              <a:rPr lang="en" altLang="ko-KR" dirty="0"/>
              <a:t>host </a:t>
            </a:r>
            <a:r>
              <a:rPr lang="ko-KR" altLang="en-US" dirty="0"/>
              <a:t>전송</a:t>
            </a:r>
          </a:p>
          <a:p>
            <a:endParaRPr lang="ko-KR" alt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31724E-D4F7-FA7D-9961-F0C66CBC3C83}"/>
              </a:ext>
            </a:extLst>
          </p:cNvPr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2563E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유리함 </a:t>
            </a:r>
            <a:r>
              <a:rPr lang="en-US" sz="3200" b="1" dirty="0">
                <a:solidFill>
                  <a:srgbClr val="2563E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✅</a:t>
            </a:r>
            <a:endParaRPr lang="en-US" sz="3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CAB86F0-8888-426A-957C-84B724DB0D02}"/>
              </a:ext>
            </a:extLst>
          </p:cNvPr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Cambria" pitchFamily="34" charset="-120"/>
              </a:rPr>
              <a:t>불리함 ⚠️</a:t>
            </a:r>
            <a:endParaRPr lang="en-US" sz="3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FF550EF-4BB8-00C2-D3BA-0719271AEC40}"/>
              </a:ext>
            </a:extLst>
          </p:cNvPr>
          <p:cNvSpPr/>
          <p:nvPr/>
        </p:nvSpPr>
        <p:spPr>
          <a:xfrm>
            <a:off x="4997772" y="5762139"/>
            <a:ext cx="11076389" cy="3061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317500" indent="-317500">
              <a:spcAft>
                <a:spcPts val="1000"/>
              </a:spcAft>
              <a:buSzPct val="100000"/>
              <a:buFontTx/>
              <a:buChar char="•"/>
            </a:pPr>
            <a:r>
              <a:rPr lang="ko-KR" alt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대규모</a:t>
            </a:r>
            <a: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배열 연산은 '메모리 바운드'(연산보다 데이터 이동이 </a:t>
            </a:r>
            <a:r>
              <a:rPr lang="en-US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병목</a:t>
            </a:r>
            <a: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)</a:t>
            </a:r>
            <a:b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sym typeface="Wingdings" pitchFamily="2" charset="2"/>
              </a:rPr>
              <a:t></a:t>
            </a:r>
            <a:r>
              <a:rPr lang="ko-KR" altLang="en-US" sz="2700" dirty="0">
                <a:latin typeface="NanumGothic" panose="020D0604000000000000" pitchFamily="34" charset="-127"/>
                <a:ea typeface="NanumGothic" panose="020D0604000000000000" pitchFamily="34" charset="-127"/>
                <a:sym typeface="Wingdings" pitchFamily="2" charset="2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GPU의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고대역폭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메모리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(HBM)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가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큰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이점</a:t>
            </a:r>
            <a:endParaRPr lang="en-US" altLang="ko-KR" sz="2700" dirty="0">
              <a:latin typeface="NanumGothic" panose="020D0604000000000000" pitchFamily="34" charset="-127"/>
              <a:ea typeface="NanumGothic" panose="020D0604000000000000" pitchFamily="34" charset="-127"/>
              <a:cs typeface="Calibri" pitchFamily="34" charset="-120"/>
            </a:endParaRPr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많은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스레드로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메모리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지연을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'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겹쳐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'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숨김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(latency hiding)</a:t>
            </a:r>
            <a:b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</a:b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  <a:sym typeface="Wingdings" pitchFamily="2" charset="2"/>
              </a:rPr>
              <a:t>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같은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연산을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거대한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데이터에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동시에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적용할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때</a:t>
            </a:r>
            <a:r>
              <a:rPr lang="en-US" altLang="ko-KR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altLang="ko-KR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최적</a:t>
            </a:r>
            <a:endParaRPr lang="en-US" altLang="ko-KR" sz="27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불필요한</a:t>
            </a:r>
            <a: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중간배열(temporary)·전송은 </a:t>
            </a:r>
            <a:r>
              <a:rPr lang="en-US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대역폭</a:t>
            </a:r>
            <a: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 </a:t>
            </a:r>
            <a:r>
              <a:rPr lang="en-US" sz="27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낭비</a:t>
            </a:r>
            <a:b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sz="2700" dirty="0">
                <a:latin typeface="NanumGothic" panose="020D0604000000000000" pitchFamily="34" charset="-127"/>
                <a:ea typeface="NanumGothic" panose="020D0604000000000000" pitchFamily="34" charset="-127"/>
                <a:cs typeface="Calibri" pitchFamily="34" charset="-120"/>
              </a:rPr>
              <a:t>→ 05(메모리)에서 out=·전송 최소화로 최적화</a:t>
            </a:r>
            <a:endParaRPr lang="en-US" sz="27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910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8F3CA-AFF2-08AD-6B88-D15D281E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GPU</a:t>
            </a:r>
            <a:r>
              <a:rPr kumimoji="1" lang="ko-KR" altLang="en-US" dirty="0"/>
              <a:t>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010C1-524B-9D23-4A64-D927457908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" altLang="ko-KR" dirty="0"/>
              <a:t>GPU: Streaming Multiprocessors (SM)</a:t>
            </a:r>
            <a:r>
              <a:rPr kumimoji="1" lang="ko-KR" altLang="en-US" dirty="0"/>
              <a:t>로 구성 </a:t>
            </a:r>
          </a:p>
          <a:p>
            <a:r>
              <a:rPr kumimoji="1" lang="en" altLang="ko-KR" dirty="0"/>
              <a:t>SM: Stream Processor (SP) </a:t>
            </a:r>
            <a:r>
              <a:rPr kumimoji="1" lang="ko-KR" altLang="en-US" dirty="0"/>
              <a:t>코어로 구성</a:t>
            </a:r>
            <a:r>
              <a:rPr kumimoji="1" lang="en-US" altLang="ko-KR" dirty="0"/>
              <a:t>.</a:t>
            </a:r>
            <a:r>
              <a:rPr kumimoji="1" lang="ko-KR" altLang="en-US" dirty="0"/>
              <a:t> 보통 </a:t>
            </a:r>
            <a:r>
              <a:rPr kumimoji="1" lang="en-US" altLang="ko-KR" dirty="0"/>
              <a:t>CUDA core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하면 </a:t>
            </a:r>
            <a:r>
              <a:rPr kumimoji="1" lang="en-US" altLang="ko-KR" dirty="0"/>
              <a:t>SP</a:t>
            </a:r>
            <a:r>
              <a:rPr kumimoji="1" lang="ko-KR" altLang="en-US" dirty="0"/>
              <a:t> </a:t>
            </a:r>
            <a:r>
              <a:rPr kumimoji="1" lang="en-US" altLang="ko-KR" dirty="0"/>
              <a:t>core</a:t>
            </a:r>
            <a:r>
              <a:rPr kumimoji="1" lang="ko-KR" altLang="en-US" dirty="0"/>
              <a:t>를 의미</a:t>
            </a:r>
          </a:p>
          <a:p>
            <a:endParaRPr kumimoji="1" lang="ko-KR" altLang="en-US" dirty="0"/>
          </a:p>
        </p:txBody>
      </p:sp>
      <p:pic>
        <p:nvPicPr>
          <p:cNvPr id="4" name="Picture 12" descr="A simplified hardware block diagram for the NVIDIA “Fermi” GPU architecture [22]. ">
            <a:extLst>
              <a:ext uri="{FF2B5EF4-FFF2-40B4-BE49-F238E27FC236}">
                <a16:creationId xmlns:a16="http://schemas.microsoft.com/office/drawing/2014/main" id="{4DDD2E7A-420F-5487-5077-1B1DF6A01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1" y="2573339"/>
            <a:ext cx="9348445" cy="6887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11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3C591-2012-B6E4-2052-0CBD26FC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H100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8192C-7C42-0AC6-9B09-E095220839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" altLang="ko-KR" dirty="0"/>
              <a:t>8 GPCs(Graphic Processing Clusters) with 9 TPCs (Texture Processing Clusters)</a:t>
            </a:r>
          </a:p>
          <a:p>
            <a:r>
              <a:rPr kumimoji="1" lang="en" altLang="ko-KR" dirty="0"/>
              <a:t>72 TPCs with 2 SMs each</a:t>
            </a:r>
          </a:p>
          <a:p>
            <a:r>
              <a:rPr kumimoji="1" lang="en" altLang="ko-KR" dirty="0"/>
              <a:t>144 SMs. Each SM has 128 FP32 CUDA cores and 4 Tensor cores.</a:t>
            </a:r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38F187B-F7C6-8321-A5B7-BC5EE3857CA5}"/>
              </a:ext>
            </a:extLst>
          </p:cNvPr>
          <p:cNvGrpSpPr/>
          <p:nvPr/>
        </p:nvGrpSpPr>
        <p:grpSpPr>
          <a:xfrm>
            <a:off x="3295994" y="3179540"/>
            <a:ext cx="14233491" cy="6314858"/>
            <a:chOff x="3295994" y="2983596"/>
            <a:chExt cx="15263083" cy="677164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3252E2C-B369-F716-0235-A7441F1B0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5994" y="2983596"/>
              <a:ext cx="15263083" cy="677164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6E74F69-60BA-E4EA-AEA0-D70A9912BA51}"/>
                </a:ext>
              </a:extLst>
            </p:cNvPr>
            <p:cNvSpPr/>
            <p:nvPr/>
          </p:nvSpPr>
          <p:spPr>
            <a:xfrm>
              <a:off x="4192007" y="3462890"/>
              <a:ext cx="3382729" cy="2479277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2700" b="1" dirty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  <a:sym typeface="Wingdings" pitchFamily="2" charset="2"/>
                </a:rPr>
                <a:t>GPC</a:t>
              </a:r>
              <a:endParaRPr lang="ko-KR" altLang="en-US" sz="27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2262CAB-76B8-A943-ACF5-A4447B24CAB6}"/>
                </a:ext>
              </a:extLst>
            </p:cNvPr>
            <p:cNvSpPr/>
            <p:nvPr/>
          </p:nvSpPr>
          <p:spPr>
            <a:xfrm>
              <a:off x="8334731" y="3551885"/>
              <a:ext cx="394589" cy="2301285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2700" b="1" dirty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  <a:sym typeface="Wingdings" pitchFamily="2" charset="2"/>
                </a:rPr>
                <a:t>TPC</a:t>
              </a:r>
              <a:endParaRPr lang="ko-KR" altLang="en-US" sz="27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45C5E9B-80E5-2493-A9CF-CD931C20CE97}"/>
                </a:ext>
              </a:extLst>
            </p:cNvPr>
            <p:cNvSpPr/>
            <p:nvPr/>
          </p:nvSpPr>
          <p:spPr>
            <a:xfrm>
              <a:off x="10411765" y="3773934"/>
              <a:ext cx="394589" cy="972135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2700" b="1" dirty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  <a:sym typeface="Wingdings" pitchFamily="2" charset="2"/>
                </a:rPr>
                <a:t>SM</a:t>
              </a:r>
              <a:endParaRPr lang="ko-KR" altLang="en-US" sz="27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  <a:sym typeface="Wingdings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48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275A8-1445-BC0F-5E7A-3AC23872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SM in H100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D3481D-6672-6C20-0C68-3A1438F800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-US" altLang="ko-KR" dirty="0"/>
              <a:t>128 FP32 CUDA cores</a:t>
            </a:r>
          </a:p>
          <a:p>
            <a:r>
              <a:rPr kumimoji="1" lang="en-US" altLang="ko-KR" dirty="0"/>
              <a:t>64 FP64 CUDA cores</a:t>
            </a:r>
          </a:p>
          <a:p>
            <a:r>
              <a:rPr kumimoji="1" lang="en-US" altLang="ko-KR" dirty="0"/>
              <a:t>4 Tensor cores</a:t>
            </a:r>
          </a:p>
          <a:p>
            <a:r>
              <a:rPr kumimoji="1" lang="en-US" altLang="ko-KR" dirty="0"/>
              <a:t>256 KB L1 data cache or shared memory</a:t>
            </a:r>
            <a:endParaRPr kumimoji="1" lang="ko-KR" altLang="en-US" dirty="0"/>
          </a:p>
        </p:txBody>
      </p:sp>
      <p:pic>
        <p:nvPicPr>
          <p:cNvPr id="4" name="그림 3" descr="NVIDIA GH100 GPU SM (Streaming Multiprocessor) block diagram">
            <a:extLst>
              <a:ext uri="{FF2B5EF4-FFF2-40B4-BE49-F238E27FC236}">
                <a16:creationId xmlns:a16="http://schemas.microsoft.com/office/drawing/2014/main" id="{4E3F9FE5-8CB3-0051-A6AE-0853463A4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469" y="1246932"/>
            <a:ext cx="6052788" cy="841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45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2C9D9-3437-EEDD-B05A-E29A94FE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GPU compute architecture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2CD9F-0E5D-935E-376E-23F407090A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커널</a:t>
            </a:r>
            <a:r>
              <a:rPr lang="en-US" altLang="ko-KR" dirty="0"/>
              <a:t>(Kernel)</a:t>
            </a:r>
          </a:p>
          <a:p>
            <a:pPr lvl="1"/>
            <a:r>
              <a:rPr lang="en-US" altLang="ko-KR" dirty="0"/>
              <a:t>GPU</a:t>
            </a:r>
            <a:r>
              <a:rPr lang="ko-KR" altLang="en-US" dirty="0"/>
              <a:t>에서 실행되는 병렬 코드 부분</a:t>
            </a:r>
            <a:endParaRPr lang="en-US" altLang="ko-KR" dirty="0"/>
          </a:p>
          <a:p>
            <a:pPr lvl="1"/>
            <a:r>
              <a:rPr lang="ko-KR" altLang="en-US" dirty="0"/>
              <a:t>스레드</a:t>
            </a:r>
            <a:r>
              <a:rPr lang="en-US" altLang="ko-KR" dirty="0"/>
              <a:t> </a:t>
            </a:r>
            <a:r>
              <a:rPr lang="ko-KR" altLang="en-US" dirty="0"/>
              <a:t>블록의 그리드로 실행 </a:t>
            </a:r>
            <a:endParaRPr lang="en-US" altLang="ko-KR" dirty="0"/>
          </a:p>
          <a:p>
            <a:pPr lvl="1"/>
            <a:r>
              <a:rPr lang="en-US" altLang="ko-KR" dirty="0" err="1"/>
              <a:t>CuPy</a:t>
            </a:r>
            <a:r>
              <a:rPr lang="en-US" altLang="ko-KR" dirty="0"/>
              <a:t> </a:t>
            </a:r>
            <a:r>
              <a:rPr lang="ko-KR" altLang="en-US" dirty="0"/>
              <a:t>포팅 시 직접 다루지 않음 </a:t>
            </a:r>
            <a:r>
              <a:rPr lang="en-US" altLang="ko-KR" dirty="0"/>
              <a:t>: </a:t>
            </a:r>
            <a:r>
              <a:rPr lang="en-US" altLang="ko-KR" dirty="0" err="1"/>
              <a:t>CuPy</a:t>
            </a:r>
            <a:r>
              <a:rPr lang="ko-KR" altLang="en-US" dirty="0"/>
              <a:t>가 커널 자동 생성</a:t>
            </a:r>
            <a:r>
              <a:rPr lang="en-US" altLang="ko-KR" dirty="0"/>
              <a:t>·</a:t>
            </a:r>
            <a:r>
              <a:rPr lang="ko-KR" altLang="en-US" dirty="0"/>
              <a:t>실행</a:t>
            </a:r>
          </a:p>
          <a:p>
            <a:pPr lvl="1"/>
            <a:r>
              <a:rPr lang="ko-KR" altLang="en-US" dirty="0"/>
              <a:t>직접 제어는 </a:t>
            </a:r>
            <a:r>
              <a:rPr lang="en-US" altLang="ko-KR" dirty="0"/>
              <a:t>Day 2(</a:t>
            </a:r>
            <a:r>
              <a:rPr lang="ko-KR" altLang="en-US" dirty="0"/>
              <a:t>커널 작성</a:t>
            </a:r>
            <a:r>
              <a:rPr lang="en-US" altLang="ko-KR" dirty="0"/>
              <a:t>)</a:t>
            </a:r>
            <a:r>
              <a:rPr lang="ko-KR" altLang="en-US" dirty="0"/>
              <a:t>에서</a:t>
            </a:r>
          </a:p>
          <a:p>
            <a:endParaRPr kumimoji="1" lang="en" altLang="ko-KR" dirty="0"/>
          </a:p>
          <a:p>
            <a:r>
              <a:rPr kumimoji="1" lang="en" altLang="ko-KR" dirty="0"/>
              <a:t>Thread — </a:t>
            </a:r>
            <a:r>
              <a:rPr kumimoji="1" lang="ko-KR" altLang="en-US" dirty="0"/>
              <a:t>가장 작은 실행 단위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공유 메모리 통해 데이터 공유</a:t>
            </a:r>
          </a:p>
          <a:p>
            <a:pPr lvl="1"/>
            <a:r>
              <a:rPr kumimoji="1" lang="ko-KR" altLang="en-US" dirty="0"/>
              <a:t>블록내에서 실행 동기화 </a:t>
            </a:r>
            <a:endParaRPr kumimoji="1" lang="en-US" altLang="ko-KR" dirty="0"/>
          </a:p>
          <a:p>
            <a:pPr lvl="1"/>
            <a:endParaRPr kumimoji="1" lang="ko-KR" altLang="en-US" dirty="0"/>
          </a:p>
          <a:p>
            <a:r>
              <a:rPr kumimoji="1" lang="en" altLang="ko-KR" dirty="0"/>
              <a:t>Block — </a:t>
            </a:r>
            <a:r>
              <a:rPr kumimoji="1" lang="ko-KR" altLang="en-US" dirty="0"/>
              <a:t>스레드 묶음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공유 메모리를 공유</a:t>
            </a:r>
            <a:endParaRPr kumimoji="1" lang="en-US" altLang="ko-KR" dirty="0"/>
          </a:p>
          <a:p>
            <a:pPr lvl="1"/>
            <a:r>
              <a:rPr lang="ko-KR" altLang="en-US" dirty="0"/>
              <a:t>스레드 모음 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블록 사이 동기화 없음</a:t>
            </a:r>
            <a:endParaRPr lang="en-US" altLang="ko-KR" dirty="0"/>
          </a:p>
          <a:p>
            <a:pPr lvl="1"/>
            <a:endParaRPr kumimoji="1" lang="ko-KR" altLang="en-US" dirty="0"/>
          </a:p>
          <a:p>
            <a:r>
              <a:rPr kumimoji="1" lang="en" altLang="ko-KR" dirty="0"/>
              <a:t>Grid — </a:t>
            </a:r>
            <a:r>
              <a:rPr kumimoji="1" lang="ko-KR" altLang="en-US" dirty="0"/>
              <a:t>블록 묶음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전체 문제 공간</a:t>
            </a:r>
            <a:endParaRPr kumimoji="1" lang="en-US" altLang="ko-KR" dirty="0"/>
          </a:p>
          <a:p>
            <a:pPr lvl="1"/>
            <a:r>
              <a:rPr lang="ko-KR" altLang="en-US" dirty="0"/>
              <a:t>스레드 블록 모음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95CF4B-FD17-3C50-E778-54917B18C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186" y="1463041"/>
            <a:ext cx="5644350" cy="778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58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AACFA-14E6-F8C6-8377-C71D0D81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SIMT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WARP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36122-A3CA-4FCB-0049-A246234252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" altLang="ko-KR" dirty="0"/>
              <a:t>SIMT = Single Instruction, Multiple Threads</a:t>
            </a:r>
          </a:p>
          <a:p>
            <a:r>
              <a:rPr kumimoji="1" lang="en" altLang="ko-KR" dirty="0"/>
              <a:t>warp = 32 </a:t>
            </a:r>
            <a:r>
              <a:rPr kumimoji="1" lang="ko-KR" altLang="en-US" dirty="0"/>
              <a:t>스레드 묶음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한 명령을 </a:t>
            </a:r>
            <a:r>
              <a:rPr kumimoji="1" lang="en" altLang="ko-KR" dirty="0"/>
              <a:t>lockstep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동시 실행</a:t>
            </a:r>
          </a:p>
          <a:p>
            <a:r>
              <a:rPr kumimoji="1" lang="ko-KR" altLang="en-US" dirty="0"/>
              <a:t>분기</a:t>
            </a:r>
            <a:r>
              <a:rPr kumimoji="1" lang="en-US" altLang="ko-KR" dirty="0"/>
              <a:t>(</a:t>
            </a:r>
            <a:r>
              <a:rPr kumimoji="1" lang="en" altLang="ko-KR" dirty="0"/>
              <a:t>divergence)</a:t>
            </a:r>
            <a:r>
              <a:rPr kumimoji="1" lang="ko-KR" altLang="en-US" dirty="0"/>
              <a:t>가 많으면 </a:t>
            </a:r>
            <a:r>
              <a:rPr kumimoji="1" lang="en" altLang="ko-KR" dirty="0"/>
              <a:t>warp </a:t>
            </a:r>
            <a:r>
              <a:rPr kumimoji="1" lang="ko-KR" altLang="en-US" dirty="0"/>
              <a:t>내 직렬화 → 성능 저하</a:t>
            </a:r>
          </a:p>
          <a:p>
            <a:r>
              <a:rPr kumimoji="1" lang="ko-KR" altLang="en-US" dirty="0"/>
              <a:t>많은 </a:t>
            </a:r>
            <a:r>
              <a:rPr kumimoji="1" lang="en" altLang="ko-KR" dirty="0"/>
              <a:t>warp</a:t>
            </a:r>
            <a:r>
              <a:rPr kumimoji="1" lang="ko-KR" altLang="en-US" dirty="0"/>
              <a:t>로 메모리 지연을 숨김</a:t>
            </a:r>
            <a:r>
              <a:rPr kumimoji="1" lang="en-US" altLang="ko-KR" dirty="0"/>
              <a:t>(</a:t>
            </a:r>
            <a:r>
              <a:rPr kumimoji="1" lang="en" altLang="ko-KR" dirty="0"/>
              <a:t>occupancy)</a:t>
            </a:r>
          </a:p>
          <a:p>
            <a:r>
              <a:rPr kumimoji="1" lang="ko-KR" altLang="en-US" dirty="0"/>
              <a:t>벡터화</a:t>
            </a:r>
            <a:r>
              <a:rPr kumimoji="1" lang="en-US" altLang="ko-KR" dirty="0"/>
              <a:t>·</a:t>
            </a:r>
            <a:r>
              <a:rPr kumimoji="1" lang="ko-KR" altLang="en-US" dirty="0"/>
              <a:t>균일한 연산이 </a:t>
            </a:r>
            <a:r>
              <a:rPr kumimoji="1" lang="en" altLang="ko-KR" dirty="0"/>
              <a:t>SIMT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유리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287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89918-CEA8-14FE-903B-2E884508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Execution Model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4499B-26A5-5E65-96F2-B47059FCDB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커널 실행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그리드의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스레드 블록이 가용 </a:t>
            </a:r>
            <a:r>
              <a:rPr lang="en-US" altLang="ko-KR" dirty="0">
                <a:sym typeface="Wingdings" panose="05000000000000000000" pitchFamily="2" charset="2"/>
              </a:rPr>
              <a:t>SM</a:t>
            </a:r>
            <a:r>
              <a:rPr lang="ko-KR" altLang="en-US" dirty="0" err="1">
                <a:sym typeface="Wingdings" panose="05000000000000000000" pitchFamily="2" charset="2"/>
              </a:rPr>
              <a:t>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분배돼 실행</a:t>
            </a:r>
            <a:endParaRPr lang="en-US" altLang="ko-KR" dirty="0"/>
          </a:p>
          <a:p>
            <a:pPr lvl="1"/>
            <a:r>
              <a:rPr lang="ko-KR" altLang="en-US" dirty="0"/>
              <a:t>스레드 블록 단위 </a:t>
            </a:r>
            <a:r>
              <a:rPr lang="en-US" altLang="ko-KR" dirty="0"/>
              <a:t>SM</a:t>
            </a:r>
            <a:r>
              <a:rPr lang="ko-KR" altLang="en-US" dirty="0" err="1"/>
              <a:t>에</a:t>
            </a:r>
            <a:r>
              <a:rPr lang="ko-KR" altLang="en-US" dirty="0"/>
              <a:t> 분배</a:t>
            </a:r>
            <a:endParaRPr lang="en-US" altLang="ko-KR" dirty="0"/>
          </a:p>
          <a:p>
            <a:r>
              <a:rPr lang="ko-KR" altLang="en-US" dirty="0"/>
              <a:t>하나의 </a:t>
            </a:r>
            <a:r>
              <a:rPr lang="en-US" altLang="ko-KR" dirty="0"/>
              <a:t>SM</a:t>
            </a:r>
            <a:r>
              <a:rPr lang="ko-KR" altLang="en-US" dirty="0" err="1"/>
              <a:t>에</a:t>
            </a:r>
            <a:r>
              <a:rPr lang="en-US" altLang="ko-KR" dirty="0"/>
              <a:t> </a:t>
            </a:r>
            <a:r>
              <a:rPr lang="ko-KR" altLang="en-US" dirty="0"/>
              <a:t>여러 블록 대응 </a:t>
            </a:r>
            <a:endParaRPr lang="en-US" altLang="ko-KR" dirty="0"/>
          </a:p>
          <a:p>
            <a:r>
              <a:rPr lang="ko-KR" altLang="en-US" dirty="0"/>
              <a:t>블록 수</a:t>
            </a:r>
            <a:r>
              <a:rPr lang="en-US" altLang="ko-KR" dirty="0"/>
              <a:t>(or </a:t>
            </a:r>
            <a:r>
              <a:rPr lang="ko-KR" altLang="en-US" dirty="0"/>
              <a:t>스레드</a:t>
            </a:r>
            <a:r>
              <a:rPr lang="en-US" altLang="ko-KR" dirty="0"/>
              <a:t> </a:t>
            </a:r>
            <a:r>
              <a:rPr lang="ko-KR" altLang="en-US" dirty="0"/>
              <a:t>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디바이스 자원</a:t>
            </a:r>
            <a:r>
              <a:rPr lang="en-US" altLang="ko-KR" dirty="0"/>
              <a:t>(CUDA cores) </a:t>
            </a:r>
          </a:p>
          <a:p>
            <a:pPr lvl="1"/>
            <a:r>
              <a:rPr lang="ko-KR" altLang="en-US" dirty="0"/>
              <a:t>제한</a:t>
            </a:r>
            <a:r>
              <a:rPr lang="en-US" altLang="ko-KR" dirty="0"/>
              <a:t>: Max # of Thread Blocks per SM, … </a:t>
            </a:r>
            <a:r>
              <a:rPr lang="en-US" altLang="ko-KR" dirty="0">
                <a:sym typeface="Wingdings" panose="05000000000000000000" pitchFamily="2" charset="2"/>
              </a:rPr>
              <a:t> Compute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Capability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실행 스케줄링 </a:t>
            </a:r>
            <a:r>
              <a:rPr lang="en-US" altLang="ko-KR" dirty="0">
                <a:sym typeface="Wingdings" panose="05000000000000000000" pitchFamily="2" charset="2"/>
              </a:rPr>
              <a:t> not </a:t>
            </a:r>
            <a:r>
              <a:rPr lang="ko-KR" altLang="en-US" dirty="0">
                <a:sym typeface="Wingdings" panose="05000000000000000000" pitchFamily="2" charset="2"/>
              </a:rPr>
              <a:t>블록</a:t>
            </a:r>
            <a:r>
              <a:rPr lang="en-US" altLang="ko-KR" dirty="0">
                <a:sym typeface="Wingdings" panose="05000000000000000000" pitchFamily="2" charset="2"/>
              </a:rPr>
              <a:t>,  but </a:t>
            </a:r>
            <a:r>
              <a:rPr lang="ko-KR" altLang="en-US" dirty="0">
                <a:sym typeface="Wingdings" panose="05000000000000000000" pitchFamily="2" charset="2"/>
              </a:rPr>
              <a:t>워프</a:t>
            </a:r>
            <a:r>
              <a:rPr lang="en-US" altLang="ko-KR" dirty="0">
                <a:sym typeface="Wingdings" panose="05000000000000000000" pitchFamily="2" charset="2"/>
              </a:rPr>
              <a:t>(Warp) </a:t>
            </a:r>
            <a:r>
              <a:rPr lang="ko-KR" altLang="en-US" dirty="0">
                <a:sym typeface="Wingdings" panose="05000000000000000000" pitchFamily="2" charset="2"/>
              </a:rPr>
              <a:t>단위 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1 Warp = 32 threads (Compute</a:t>
            </a:r>
            <a:r>
              <a:rPr lang="ko-KR" altLang="en-US" dirty="0"/>
              <a:t> </a:t>
            </a:r>
            <a:r>
              <a:rPr lang="en-US" altLang="ko-KR" dirty="0"/>
              <a:t>Capability)</a:t>
            </a:r>
          </a:p>
          <a:p>
            <a:pPr lvl="1"/>
            <a:r>
              <a:rPr lang="en-US" altLang="ko-KR" dirty="0"/>
              <a:t>SM</a:t>
            </a:r>
            <a:r>
              <a:rPr lang="ko-KR" altLang="en-US" dirty="0"/>
              <a:t>에서 </a:t>
            </a:r>
            <a:r>
              <a:rPr lang="en-US" altLang="ko-KR" dirty="0"/>
              <a:t>32</a:t>
            </a:r>
            <a:r>
              <a:rPr lang="ko-KR" altLang="en-US" dirty="0"/>
              <a:t>개 스레드 단위로 동시에 같은 명령 실행 </a:t>
            </a:r>
            <a:r>
              <a:rPr lang="en-US" altLang="ko-KR" dirty="0"/>
              <a:t>(SIMT)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B26471-1B0D-37AC-ADDE-2DC744B6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496" y="3897854"/>
            <a:ext cx="6910335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3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38BA4-0D6F-4E5A-8E01-3125322E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GPU </a:t>
            </a:r>
            <a:r>
              <a:rPr kumimoji="1" lang="ko-KR" altLang="en-US" dirty="0"/>
              <a:t>메모리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F53B7-9E48-7E3D-0AAB-65D09226A7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" altLang="ko-KR" dirty="0"/>
              <a:t>Host(CPU)</a:t>
            </a:r>
            <a:r>
              <a:rPr kumimoji="1" lang="ko-KR" altLang="en-US" dirty="0"/>
              <a:t>와 </a:t>
            </a:r>
            <a:r>
              <a:rPr kumimoji="1" lang="en" altLang="ko-KR" dirty="0"/>
              <a:t>Device(GPU)</a:t>
            </a:r>
            <a:r>
              <a:rPr kumimoji="1" lang="ko-KR" altLang="en-US" dirty="0"/>
              <a:t>는 별도 메모리 공간</a:t>
            </a:r>
            <a:br>
              <a:rPr kumimoji="1" lang="en-US" altLang="ko-KR" dirty="0"/>
            </a:br>
            <a:r>
              <a:rPr kumimoji="1" lang="en-US" altLang="ko-KR" dirty="0"/>
              <a:t>① </a:t>
            </a:r>
            <a:r>
              <a:rPr kumimoji="1" lang="en" altLang="ko-KR" dirty="0" err="1"/>
              <a:t>host→device</a:t>
            </a:r>
            <a:r>
              <a:rPr kumimoji="1" lang="en" altLang="ko-KR" dirty="0"/>
              <a:t> </a:t>
            </a:r>
            <a:r>
              <a:rPr kumimoji="1" lang="ko-KR" altLang="en-US" dirty="0"/>
              <a:t>전송 </a:t>
            </a:r>
            <a:r>
              <a:rPr kumimoji="1" lang="en-US" altLang="ko-KR" dirty="0"/>
              <a:t>(</a:t>
            </a:r>
            <a:r>
              <a:rPr kumimoji="1" lang="en" altLang="ko-KR" dirty="0" err="1"/>
              <a:t>cp.asarray</a:t>
            </a:r>
            <a:r>
              <a:rPr kumimoji="1" lang="en" altLang="ko-KR" dirty="0"/>
              <a:t>)</a:t>
            </a:r>
            <a:br>
              <a:rPr kumimoji="1" lang="en" altLang="ko-KR" dirty="0"/>
            </a:br>
            <a:r>
              <a:rPr kumimoji="1" lang="en" altLang="ko-KR" dirty="0"/>
              <a:t>② device</a:t>
            </a:r>
            <a:r>
              <a:rPr kumimoji="1" lang="ko-KR" altLang="en-US" dirty="0"/>
              <a:t>에서 커널 실행</a:t>
            </a:r>
            <a:r>
              <a:rPr kumimoji="1" lang="en-US" altLang="ko-KR" dirty="0"/>
              <a:t>(</a:t>
            </a:r>
            <a:r>
              <a:rPr kumimoji="1" lang="ko-KR" altLang="en-US" dirty="0"/>
              <a:t>연산</a:t>
            </a:r>
            <a:r>
              <a:rPr kumimoji="1" lang="en-US" altLang="ko-KR" dirty="0"/>
              <a:t>)</a:t>
            </a:r>
            <a:br>
              <a:rPr kumimoji="1" lang="en-US" altLang="ko-KR" dirty="0"/>
            </a:br>
            <a:r>
              <a:rPr kumimoji="1" lang="en-US" altLang="ko-KR" dirty="0"/>
              <a:t>③ </a:t>
            </a:r>
            <a:r>
              <a:rPr kumimoji="1" lang="ko-KR" altLang="en-US" dirty="0"/>
              <a:t>필요한 결과만 </a:t>
            </a:r>
            <a:r>
              <a:rPr kumimoji="1" lang="en" altLang="ko-KR" dirty="0" err="1"/>
              <a:t>device→host</a:t>
            </a:r>
            <a:r>
              <a:rPr kumimoji="1" lang="en" altLang="ko-KR" dirty="0"/>
              <a:t> (</a:t>
            </a:r>
            <a:r>
              <a:rPr kumimoji="1" lang="en" altLang="ko-KR" dirty="0" err="1"/>
              <a:t>cp.asnumpy</a:t>
            </a:r>
            <a:r>
              <a:rPr kumimoji="1" lang="en" altLang="ko-KR" dirty="0"/>
              <a:t>)</a:t>
            </a:r>
          </a:p>
          <a:p>
            <a:r>
              <a:rPr kumimoji="1" lang="ko-KR" altLang="en-US" dirty="0"/>
              <a:t>커널 </a:t>
            </a:r>
            <a:r>
              <a:rPr kumimoji="1" lang="en-US" altLang="ko-KR" dirty="0"/>
              <a:t>= </a:t>
            </a:r>
            <a:r>
              <a:rPr kumimoji="1" lang="en" altLang="ko-KR" dirty="0"/>
              <a:t>GPU</a:t>
            </a:r>
            <a:r>
              <a:rPr kumimoji="1" lang="ko-KR" altLang="en-US" dirty="0"/>
              <a:t>에서 실행되는 함수</a:t>
            </a:r>
            <a:r>
              <a:rPr kumimoji="1" lang="en-US" altLang="ko-KR" dirty="0"/>
              <a:t>, </a:t>
            </a:r>
            <a:r>
              <a:rPr kumimoji="1" lang="ko-KR" altLang="en-US" dirty="0"/>
              <a:t>수많은 스레드로 동시 실행</a:t>
            </a:r>
          </a:p>
          <a:p>
            <a:endParaRPr kumimoji="1"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9E1B946-5D19-1493-0258-3643E12A818E}"/>
              </a:ext>
            </a:extLst>
          </p:cNvPr>
          <p:cNvGrpSpPr/>
          <p:nvPr/>
        </p:nvGrpSpPr>
        <p:grpSpPr>
          <a:xfrm>
            <a:off x="4304080" y="4129961"/>
            <a:ext cx="12028182" cy="5168493"/>
            <a:chOff x="1331640" y="1590473"/>
            <a:chExt cx="6624736" cy="28466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BC1F35A-0373-2B0D-276D-E32CB9380BD9}"/>
                </a:ext>
              </a:extLst>
            </p:cNvPr>
            <p:cNvSpPr/>
            <p:nvPr/>
          </p:nvSpPr>
          <p:spPr>
            <a:xfrm>
              <a:off x="1331640" y="1673187"/>
              <a:ext cx="2088232" cy="1080120"/>
            </a:xfrm>
            <a:prstGeom prst="rect">
              <a:avLst/>
            </a:prstGeom>
            <a:solidFill>
              <a:srgbClr val="9BBB5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b="1" dirty="0">
                  <a:solidFill>
                    <a:schemeClr val="tx1"/>
                  </a:solidFill>
                </a:rPr>
                <a:t>CPU</a:t>
              </a:r>
              <a:endParaRPr lang="ko-KR" altLang="en-US" sz="27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58076A1-2936-CD65-FFFF-F998ACEDE907}"/>
                </a:ext>
              </a:extLst>
            </p:cNvPr>
            <p:cNvSpPr/>
            <p:nvPr/>
          </p:nvSpPr>
          <p:spPr>
            <a:xfrm>
              <a:off x="1331640" y="3356992"/>
              <a:ext cx="2088232" cy="1080120"/>
            </a:xfrm>
            <a:prstGeom prst="rect">
              <a:avLst/>
            </a:prstGeom>
            <a:solidFill>
              <a:srgbClr val="9BBB5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b="1" dirty="0">
                  <a:solidFill>
                    <a:schemeClr val="tx1"/>
                  </a:solidFill>
                </a:rPr>
                <a:t>Memory</a:t>
              </a:r>
              <a:endParaRPr lang="ko-KR" altLang="en-US" sz="27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304FD89-0B1B-B792-F0E7-0406A63B6343}"/>
                </a:ext>
              </a:extLst>
            </p:cNvPr>
            <p:cNvSpPr/>
            <p:nvPr/>
          </p:nvSpPr>
          <p:spPr>
            <a:xfrm>
              <a:off x="5868144" y="1673187"/>
              <a:ext cx="2088232" cy="108012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b="1" dirty="0">
                  <a:solidFill>
                    <a:schemeClr val="tx1"/>
                  </a:solidFill>
                </a:rPr>
                <a:t>GPU</a:t>
              </a:r>
              <a:endParaRPr lang="ko-KR" altLang="en-US" sz="27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E5604B-0615-3C60-F801-BA777199B8EE}"/>
                </a:ext>
              </a:extLst>
            </p:cNvPr>
            <p:cNvSpPr/>
            <p:nvPr/>
          </p:nvSpPr>
          <p:spPr>
            <a:xfrm>
              <a:off x="5868144" y="3356992"/>
              <a:ext cx="2088232" cy="108012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b="1" dirty="0">
                  <a:solidFill>
                    <a:schemeClr val="tx1"/>
                  </a:solidFill>
                </a:rPr>
                <a:t>GPU Memory</a:t>
              </a:r>
              <a:endParaRPr lang="ko-KR" altLang="en-US" sz="27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화살표: 위쪽/아래쪽 9">
              <a:extLst>
                <a:ext uri="{FF2B5EF4-FFF2-40B4-BE49-F238E27FC236}">
                  <a16:creationId xmlns:a16="http://schemas.microsoft.com/office/drawing/2014/main" id="{64C9181F-D047-CF1E-885C-3771D44D1B41}"/>
                </a:ext>
              </a:extLst>
            </p:cNvPr>
            <p:cNvSpPr/>
            <p:nvPr/>
          </p:nvSpPr>
          <p:spPr>
            <a:xfrm>
              <a:off x="2267744" y="2753307"/>
              <a:ext cx="216024" cy="603685"/>
            </a:xfrm>
            <a:prstGeom prst="up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화살표: 위쪽/아래쪽 10">
              <a:extLst>
                <a:ext uri="{FF2B5EF4-FFF2-40B4-BE49-F238E27FC236}">
                  <a16:creationId xmlns:a16="http://schemas.microsoft.com/office/drawing/2014/main" id="{5C552F25-46B9-A380-BC81-E0CA1C4F757A}"/>
                </a:ext>
              </a:extLst>
            </p:cNvPr>
            <p:cNvSpPr/>
            <p:nvPr/>
          </p:nvSpPr>
          <p:spPr>
            <a:xfrm>
              <a:off x="6804248" y="2753307"/>
              <a:ext cx="216024" cy="603685"/>
            </a:xfrm>
            <a:prstGeom prst="up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D1A01B0-C66D-7612-521C-BC5A48707849}"/>
                </a:ext>
              </a:extLst>
            </p:cNvPr>
            <p:cNvCxnSpPr>
              <a:cxnSpLocks/>
            </p:cNvCxnSpPr>
            <p:nvPr/>
          </p:nvCxnSpPr>
          <p:spPr>
            <a:xfrm>
              <a:off x="3419872" y="1988840"/>
              <a:ext cx="2448272" cy="0"/>
            </a:xfrm>
            <a:prstGeom prst="straightConnector1">
              <a:avLst/>
            </a:prstGeom>
            <a:ln w="76200" cmpd="sng">
              <a:solidFill>
                <a:schemeClr val="tx1"/>
              </a:solidFill>
              <a:prstDash val="sysDash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297DA3F-C89E-55C7-0672-4654DFB01CE8}"/>
                </a:ext>
              </a:extLst>
            </p:cNvPr>
            <p:cNvCxnSpPr>
              <a:cxnSpLocks/>
            </p:cNvCxnSpPr>
            <p:nvPr/>
          </p:nvCxnSpPr>
          <p:spPr>
            <a:xfrm>
              <a:off x="3419872" y="3645024"/>
              <a:ext cx="2448272" cy="0"/>
            </a:xfrm>
            <a:prstGeom prst="straightConnector1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prstDash val="soli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7FA02C3-81E9-1DF8-7EF9-588D2B4E3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9872" y="2420888"/>
              <a:ext cx="2448272" cy="0"/>
            </a:xfrm>
            <a:prstGeom prst="straightConnector1">
              <a:avLst/>
            </a:prstGeom>
            <a:ln w="76200" cmpd="sng">
              <a:solidFill>
                <a:schemeClr val="tx1"/>
              </a:solidFill>
              <a:prstDash val="sysDash"/>
              <a:headEnd type="none" w="lg" len="med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5B5795A9-CEF5-6F5B-F7FA-1D91603878B2}"/>
                </a:ext>
              </a:extLst>
            </p:cNvPr>
            <p:cNvCxnSpPr>
              <a:cxnSpLocks/>
            </p:cNvCxnSpPr>
            <p:nvPr/>
          </p:nvCxnSpPr>
          <p:spPr>
            <a:xfrm>
              <a:off x="3419872" y="4077072"/>
              <a:ext cx="2448272" cy="0"/>
            </a:xfrm>
            <a:prstGeom prst="straightConnector1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prstDash val="solid"/>
              <a:headEnd type="triangle"/>
              <a:tailEnd type="non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FBC4D5-4EFF-2B99-6BF4-4451C670DB72}"/>
                </a:ext>
              </a:extLst>
            </p:cNvPr>
            <p:cNvSpPr txBox="1"/>
            <p:nvPr/>
          </p:nvSpPr>
          <p:spPr>
            <a:xfrm>
              <a:off x="3491880" y="3245948"/>
              <a:ext cx="2304256" cy="279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700" b="1" dirty="0"/>
                <a:t>1. Copy Input Data</a:t>
              </a:r>
              <a:endParaRPr lang="ko-KR" altLang="en-US" sz="27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EE85D8-5CC6-5EBA-5EF4-C2F17499665A}"/>
                </a:ext>
              </a:extLst>
            </p:cNvPr>
            <p:cNvSpPr txBox="1"/>
            <p:nvPr/>
          </p:nvSpPr>
          <p:spPr>
            <a:xfrm>
              <a:off x="3347828" y="1590473"/>
              <a:ext cx="2592360" cy="279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700" b="1" dirty="0"/>
                <a:t>2. Call Computation</a:t>
              </a:r>
              <a:endParaRPr lang="ko-KR" altLang="en-US" sz="27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3BDB78-7772-FA67-07E8-6A7A4E9B16F9}"/>
                </a:ext>
              </a:extLst>
            </p:cNvPr>
            <p:cNvSpPr txBox="1"/>
            <p:nvPr/>
          </p:nvSpPr>
          <p:spPr>
            <a:xfrm>
              <a:off x="3491880" y="2449215"/>
              <a:ext cx="2304256" cy="279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700" b="1" dirty="0"/>
                <a:t>3. Return</a:t>
              </a:r>
              <a:endParaRPr lang="ko-KR" altLang="en-US" sz="27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7FAEED-727B-A9E9-64E4-1C9798B9208B}"/>
                </a:ext>
              </a:extLst>
            </p:cNvPr>
            <p:cNvSpPr txBox="1"/>
            <p:nvPr/>
          </p:nvSpPr>
          <p:spPr>
            <a:xfrm>
              <a:off x="3491880" y="4077071"/>
              <a:ext cx="2304256" cy="279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700" b="1" dirty="0"/>
                <a:t>4. Copy Result</a:t>
              </a:r>
              <a:endParaRPr lang="ko-KR" altLang="en-US" sz="27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0548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A5E19-18FC-B2C5-13D3-D16DFB31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GPU </a:t>
            </a:r>
            <a:r>
              <a:rPr lang="ko-KR" altLang="en-US" dirty="0"/>
              <a:t>메모리로의 데이터 전송 </a:t>
            </a:r>
            <a:r>
              <a:rPr lang="en-US" altLang="ko-KR" dirty="0"/>
              <a:t>–</a:t>
            </a:r>
            <a:r>
              <a:rPr lang="ko-KR" altLang="en-US" dirty="0"/>
              <a:t> 오프로딩</a:t>
            </a:r>
            <a:r>
              <a:rPr lang="en-US" altLang="ko-KR" dirty="0"/>
              <a:t>( offloading)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647EC-0AD8-399E-3C88-C062E1E3CE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오프로딩</a:t>
            </a:r>
            <a:endParaRPr lang="en-US" altLang="ko-KR" dirty="0"/>
          </a:p>
          <a:p>
            <a:pPr lvl="1"/>
            <a:r>
              <a:rPr lang="en-US" altLang="ko-KR" dirty="0"/>
              <a:t>GPU </a:t>
            </a:r>
            <a:r>
              <a:rPr lang="ko-KR" altLang="en-US" dirty="0"/>
              <a:t>메모리 할당</a:t>
            </a:r>
            <a:endParaRPr lang="en-US" altLang="ko-KR" dirty="0"/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메모리 </a:t>
            </a:r>
            <a:r>
              <a:rPr lang="en-US" altLang="ko-KR" dirty="0"/>
              <a:t>(DRAM)</a:t>
            </a:r>
            <a:r>
              <a:rPr lang="ko-KR" altLang="en-US" dirty="0"/>
              <a:t>에서 </a:t>
            </a:r>
            <a:r>
              <a:rPr lang="en-US" altLang="ko-KR" dirty="0"/>
              <a:t>GPU</a:t>
            </a:r>
            <a:r>
              <a:rPr lang="ko-KR" altLang="en-US" dirty="0"/>
              <a:t> 메모리로 데이터 전송</a:t>
            </a:r>
            <a:endParaRPr lang="en-US" altLang="ko-KR" dirty="0"/>
          </a:p>
          <a:p>
            <a:pPr lvl="1"/>
            <a:r>
              <a:rPr lang="en-US" altLang="ko-KR" dirty="0"/>
              <a:t>GPU</a:t>
            </a:r>
            <a:r>
              <a:rPr lang="ko-KR" altLang="en-US" dirty="0"/>
              <a:t> 메모리의 데이터로 계산 수행 </a:t>
            </a:r>
            <a:r>
              <a:rPr lang="en-US" altLang="ko-KR" dirty="0"/>
              <a:t>(</a:t>
            </a:r>
            <a:r>
              <a:rPr lang="ko-KR" altLang="en-US" dirty="0"/>
              <a:t>커널 연산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연산 결과를 </a:t>
            </a:r>
            <a:r>
              <a:rPr lang="en-US" altLang="ko-KR" dirty="0"/>
              <a:t>CPU </a:t>
            </a:r>
            <a:r>
              <a:rPr lang="ko-KR" altLang="en-US" dirty="0"/>
              <a:t>메모리로 다시 전송</a:t>
            </a:r>
          </a:p>
          <a:p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DCBB04-4786-46E2-0E7E-5826BF61399F}"/>
              </a:ext>
            </a:extLst>
          </p:cNvPr>
          <p:cNvSpPr/>
          <p:nvPr/>
        </p:nvSpPr>
        <p:spPr bwMode="auto">
          <a:xfrm>
            <a:off x="5146343" y="5645415"/>
            <a:ext cx="4312444" cy="11882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2100" b="1" dirty="0">
                <a:solidFill>
                  <a:schemeClr val="tx1"/>
                </a:solidFill>
              </a:rPr>
              <a:t>Main memory</a:t>
            </a:r>
          </a:p>
          <a:p>
            <a:pPr>
              <a:defRPr/>
            </a:pPr>
            <a:endParaRPr lang="en-US" altLang="ko-KR" sz="21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2100" b="1" dirty="0">
              <a:solidFill>
                <a:schemeClr val="tx1"/>
              </a:solidFill>
            </a:endParaRPr>
          </a:p>
          <a:p>
            <a:pPr>
              <a:defRPr/>
            </a:pPr>
            <a:endParaRPr lang="ko-KR" altLang="en-US" sz="21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C1945F-0863-B3D1-EEC6-417CE49722A7}"/>
              </a:ext>
            </a:extLst>
          </p:cNvPr>
          <p:cNvSpPr/>
          <p:nvPr/>
        </p:nvSpPr>
        <p:spPr bwMode="auto">
          <a:xfrm>
            <a:off x="5520200" y="6016889"/>
            <a:ext cx="1728787" cy="44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2100" b="1" dirty="0">
                <a:solidFill>
                  <a:schemeClr val="tx1"/>
                </a:solidFill>
              </a:rPr>
              <a:t>Input data</a:t>
            </a:r>
            <a:endParaRPr lang="ko-KR" altLang="en-US" sz="2100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252C9E-4FA9-B281-3A91-71F7497EEE84}"/>
              </a:ext>
            </a:extLst>
          </p:cNvPr>
          <p:cNvSpPr/>
          <p:nvPr/>
        </p:nvSpPr>
        <p:spPr bwMode="auto">
          <a:xfrm>
            <a:off x="7248988" y="6016889"/>
            <a:ext cx="1835943" cy="4452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2100" b="1" dirty="0">
                <a:solidFill>
                  <a:schemeClr val="tx1"/>
                </a:solidFill>
              </a:rPr>
              <a:t>Output data</a:t>
            </a:r>
            <a:endParaRPr lang="ko-KR" altLang="en-US" sz="2100" b="1" dirty="0">
              <a:solidFill>
                <a:schemeClr val="tx1"/>
              </a:solidFill>
            </a:endParaRPr>
          </a:p>
        </p:txBody>
      </p:sp>
      <p:grpSp>
        <p:nvGrpSpPr>
          <p:cNvPr id="12" name="그룹 4">
            <a:extLst>
              <a:ext uri="{FF2B5EF4-FFF2-40B4-BE49-F238E27FC236}">
                <a16:creationId xmlns:a16="http://schemas.microsoft.com/office/drawing/2014/main" id="{63A1207A-C747-F3F8-1481-510CFDF0E6D1}"/>
              </a:ext>
            </a:extLst>
          </p:cNvPr>
          <p:cNvGrpSpPr>
            <a:grpSpLocks/>
          </p:cNvGrpSpPr>
          <p:nvPr/>
        </p:nvGrpSpPr>
        <p:grpSpPr bwMode="auto">
          <a:xfrm>
            <a:off x="9991909" y="4346658"/>
            <a:ext cx="4311521" cy="2508210"/>
            <a:chOff x="4842036" y="3106562"/>
            <a:chExt cx="2874044" cy="16721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5A22833-8E38-38C8-19A0-322098FA9DE3}"/>
                </a:ext>
              </a:extLst>
            </p:cNvPr>
            <p:cNvSpPr/>
            <p:nvPr/>
          </p:nvSpPr>
          <p:spPr>
            <a:xfrm>
              <a:off x="4841422" y="3106562"/>
              <a:ext cx="2874658" cy="16716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2100" b="1" dirty="0">
                  <a:solidFill>
                    <a:schemeClr val="tx1"/>
                  </a:solidFill>
                </a:rPr>
                <a:t>GPU</a:t>
              </a: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EA338C-8CDA-7B14-B86A-76D1604FEFFB}"/>
                </a:ext>
              </a:extLst>
            </p:cNvPr>
            <p:cNvSpPr/>
            <p:nvPr/>
          </p:nvSpPr>
          <p:spPr>
            <a:xfrm>
              <a:off x="4946186" y="3357382"/>
              <a:ext cx="2665130" cy="569901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2100" b="1" dirty="0">
                  <a:solidFill>
                    <a:schemeClr val="tx1"/>
                  </a:solidFill>
                </a:rPr>
                <a:t>GPU processor</a:t>
              </a:r>
            </a:p>
            <a:p>
              <a:pPr>
                <a:defRPr/>
              </a:pPr>
              <a:endParaRPr lang="en-US" altLang="ko-KR" sz="2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그룹 2">
              <a:extLst>
                <a:ext uri="{FF2B5EF4-FFF2-40B4-BE49-F238E27FC236}">
                  <a16:creationId xmlns:a16="http://schemas.microsoft.com/office/drawing/2014/main" id="{812D05B2-4299-E2EE-4E7E-D70E9E675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6910" y="4028368"/>
              <a:ext cx="2664296" cy="696776"/>
              <a:chOff x="4830824" y="5098783"/>
              <a:chExt cx="2664296" cy="696776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44DCD696-FA78-EBE4-83B5-9A0E97199BCE}"/>
                  </a:ext>
                </a:extLst>
              </p:cNvPr>
              <p:cNvSpPr/>
              <p:nvPr/>
            </p:nvSpPr>
            <p:spPr>
              <a:xfrm>
                <a:off x="4830100" y="5099297"/>
                <a:ext cx="2665130" cy="69213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sz="2100" b="1" dirty="0">
                    <a:solidFill>
                      <a:schemeClr val="tx1"/>
                    </a:solidFill>
                  </a:rPr>
                  <a:t>GPU memory</a:t>
                </a:r>
              </a:p>
              <a:p>
                <a:pPr>
                  <a:defRPr/>
                </a:pPr>
                <a:endParaRPr lang="en-US" altLang="ko-KR" sz="2100" b="1" dirty="0">
                  <a:solidFill>
                    <a:schemeClr val="tx1"/>
                  </a:solidFill>
                </a:endParaRPr>
              </a:p>
              <a:p>
                <a:pPr algn="ctr">
                  <a:defRPr/>
                </a:pPr>
                <a:endParaRPr lang="ko-KR" altLang="en-US" sz="2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8A951B3-55E1-73DA-F0AB-60369C05EE1C}"/>
                  </a:ext>
                </a:extLst>
              </p:cNvPr>
              <p:cNvSpPr/>
              <p:nvPr/>
            </p:nvSpPr>
            <p:spPr>
              <a:xfrm>
                <a:off x="5009468" y="5353292"/>
                <a:ext cx="1153991" cy="29685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2100" b="1" dirty="0">
                    <a:solidFill>
                      <a:schemeClr val="tx1"/>
                    </a:solidFill>
                  </a:rPr>
                  <a:t>Input data</a:t>
                </a:r>
                <a:endParaRPr lang="ko-KR" altLang="en-US" sz="2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F43B6C6-9360-ECB5-9AB5-2A25A7BFE9B1}"/>
                  </a:ext>
                </a:extLst>
              </p:cNvPr>
              <p:cNvSpPr/>
              <p:nvPr/>
            </p:nvSpPr>
            <p:spPr>
              <a:xfrm>
                <a:off x="6163459" y="5353292"/>
                <a:ext cx="1223832" cy="29685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2100" b="1" dirty="0">
                    <a:solidFill>
                      <a:schemeClr val="tx1"/>
                    </a:solidFill>
                  </a:rPr>
                  <a:t>Output data</a:t>
                </a:r>
                <a:endParaRPr lang="ko-KR" altLang="en-US" sz="21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B6EBE6-11F4-9EC2-2FAB-4E05B92F0AC5}"/>
              </a:ext>
            </a:extLst>
          </p:cNvPr>
          <p:cNvSpPr/>
          <p:nvPr/>
        </p:nvSpPr>
        <p:spPr bwMode="auto">
          <a:xfrm>
            <a:off x="5146343" y="4331351"/>
            <a:ext cx="4312444" cy="12464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2100" b="1" dirty="0">
                <a:solidFill>
                  <a:schemeClr val="tx1"/>
                </a:solidFill>
              </a:rPr>
              <a:t>CPU</a:t>
            </a:r>
          </a:p>
          <a:p>
            <a:pPr>
              <a:defRPr/>
            </a:pPr>
            <a:endParaRPr lang="en-US" altLang="ko-KR" sz="21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2100" b="1" dirty="0">
              <a:solidFill>
                <a:schemeClr val="tx1"/>
              </a:solidFill>
            </a:endParaRPr>
          </a:p>
        </p:txBody>
      </p:sp>
      <p:cxnSp>
        <p:nvCxnSpPr>
          <p:cNvPr id="14" name="꺾인 연결선 17">
            <a:extLst>
              <a:ext uri="{FF2B5EF4-FFF2-40B4-BE49-F238E27FC236}">
                <a16:creationId xmlns:a16="http://schemas.microsoft.com/office/drawing/2014/main" id="{C315F6A6-9D77-835C-8734-1CE813EB5DAE}"/>
              </a:ext>
            </a:extLst>
          </p:cNvPr>
          <p:cNvCxnSpPr>
            <a:cxnSpLocks/>
            <a:stCxn id="10" idx="2"/>
            <a:endCxn id="22" idx="2"/>
          </p:cNvCxnSpPr>
          <p:nvPr/>
        </p:nvCxnSpPr>
        <p:spPr bwMode="auto">
          <a:xfrm rot="16200000" flipH="1">
            <a:off x="8786568" y="4060209"/>
            <a:ext cx="94274" cy="4898222"/>
          </a:xfrm>
          <a:prstGeom prst="bentConnector3">
            <a:avLst>
              <a:gd name="adj1" fmla="val 611912"/>
            </a:avLst>
          </a:prstGeom>
          <a:ln w="25400">
            <a:solidFill>
              <a:srgbClr val="FF0000"/>
            </a:solidFill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8">
            <a:extLst>
              <a:ext uri="{FF2B5EF4-FFF2-40B4-BE49-F238E27FC236}">
                <a16:creationId xmlns:a16="http://schemas.microsoft.com/office/drawing/2014/main" id="{14D69C68-3843-19A3-A676-202DA11BCEDB}"/>
              </a:ext>
            </a:extLst>
          </p:cNvPr>
          <p:cNvCxnSpPr>
            <a:cxnSpLocks/>
            <a:stCxn id="11" idx="2"/>
            <a:endCxn id="23" idx="2"/>
          </p:cNvCxnSpPr>
          <p:nvPr/>
        </p:nvCxnSpPr>
        <p:spPr bwMode="auto">
          <a:xfrm rot="16200000" flipH="1">
            <a:off x="10569529" y="4059614"/>
            <a:ext cx="94274" cy="4899412"/>
          </a:xfrm>
          <a:prstGeom prst="bentConnector3">
            <a:avLst>
              <a:gd name="adj1" fmla="val 791531"/>
            </a:avLst>
          </a:prstGeom>
          <a:ln w="25400">
            <a:solidFill>
              <a:srgbClr val="FF0000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E94A282-5DD8-E6EB-6C26-613E5CC36B34}"/>
              </a:ext>
            </a:extLst>
          </p:cNvPr>
          <p:cNvCxnSpPr/>
          <p:nvPr/>
        </p:nvCxnSpPr>
        <p:spPr bwMode="auto">
          <a:xfrm flipV="1">
            <a:off x="11284006" y="5263439"/>
            <a:ext cx="0" cy="8477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43ADEC-8FE7-2CCA-4B22-6A2573027EF9}"/>
              </a:ext>
            </a:extLst>
          </p:cNvPr>
          <p:cNvCxnSpPr/>
          <p:nvPr/>
        </p:nvCxnSpPr>
        <p:spPr bwMode="auto">
          <a:xfrm flipV="1">
            <a:off x="13065180" y="5303920"/>
            <a:ext cx="0" cy="850106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D8AE84-0BD1-9B89-6E5C-6D920EE86BCF}"/>
              </a:ext>
            </a:extLst>
          </p:cNvPr>
          <p:cNvSpPr txBox="1"/>
          <p:nvPr/>
        </p:nvSpPr>
        <p:spPr>
          <a:xfrm>
            <a:off x="9035120" y="7299405"/>
            <a:ext cx="13821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700" dirty="0"/>
              <a:t>PCIe bus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739974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1BB41-5CEE-EDF3-972C-4E170328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GPU programming Model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28E8E-2A7F-A9A1-0402-E8CFA6C8E6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ko-KR" altLang="en-US" dirty="0"/>
              <a:t>성능 가속을 위한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가지 분류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7DBA4D1E-4A62-0727-D929-CAFFA0CFA4DD}"/>
              </a:ext>
            </a:extLst>
          </p:cNvPr>
          <p:cNvSpPr/>
          <p:nvPr/>
        </p:nvSpPr>
        <p:spPr>
          <a:xfrm>
            <a:off x="4394366" y="4207765"/>
            <a:ext cx="3469481" cy="2776539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 w="38100">
            <a:solidFill>
              <a:srgbClr val="73B9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Libraries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9D65EFC-1349-8A6B-DD0F-561BDEE16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022" y="7347613"/>
            <a:ext cx="28741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000" dirty="0">
                <a:solidFill>
                  <a:schemeClr val="tx1">
                    <a:lumMod val="75000"/>
                  </a:schemeClr>
                </a:solidFill>
                <a:latin typeface="Trebuchet MS" pitchFamily="34" charset="0"/>
              </a:rPr>
              <a:t>“Drop-in”</a:t>
            </a:r>
          </a:p>
          <a:p>
            <a:pPr algn="ctr"/>
            <a:r>
              <a:rPr lang="en-US" sz="3000" dirty="0">
                <a:solidFill>
                  <a:schemeClr val="tx1">
                    <a:lumMod val="75000"/>
                  </a:schemeClr>
                </a:solidFill>
                <a:latin typeface="Trebuchet MS" pitchFamily="34" charset="0"/>
              </a:rPr>
              <a:t>Acceleration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35CA083-4B5A-F7A4-8DC7-2308743E1394}"/>
              </a:ext>
            </a:extLst>
          </p:cNvPr>
          <p:cNvSpPr/>
          <p:nvPr/>
        </p:nvSpPr>
        <p:spPr>
          <a:xfrm>
            <a:off x="12107736" y="4150615"/>
            <a:ext cx="4319544" cy="2776539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 w="38100">
            <a:solidFill>
              <a:srgbClr val="73B9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Languages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F792132-5B71-F9CD-A9B9-899E7D2E95BB}"/>
              </a:ext>
            </a:extLst>
          </p:cNvPr>
          <p:cNvSpPr/>
          <p:nvPr/>
        </p:nvSpPr>
        <p:spPr>
          <a:xfrm>
            <a:off x="8194497" y="4207765"/>
            <a:ext cx="3543300" cy="2776539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 w="38100">
            <a:solidFill>
              <a:srgbClr val="73B9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Directive</a:t>
            </a:r>
          </a:p>
          <a:p>
            <a:pPr algn="ctr">
              <a:defRPr/>
            </a:pP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F92D365-2995-CAC8-175F-9E9AEA3BE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3987" y="7347613"/>
            <a:ext cx="42243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000" dirty="0">
                <a:solidFill>
                  <a:schemeClr val="tx1">
                    <a:lumMod val="75000"/>
                  </a:schemeClr>
                </a:solidFill>
                <a:latin typeface="Trebuchet MS" pitchFamily="34" charset="0"/>
              </a:rPr>
              <a:t>Easily Accelerate</a:t>
            </a:r>
          </a:p>
          <a:p>
            <a:pPr algn="ctr"/>
            <a:r>
              <a:rPr lang="en-US" sz="3000" dirty="0">
                <a:solidFill>
                  <a:schemeClr val="tx1">
                    <a:lumMod val="75000"/>
                  </a:schemeClr>
                </a:solidFill>
                <a:latin typeface="Trebuchet MS" pitchFamily="34" charset="0"/>
              </a:rPr>
              <a:t>Applications</a:t>
            </a:r>
            <a:endParaRPr lang="en-US" sz="3300" dirty="0">
              <a:solidFill>
                <a:schemeClr val="tx1">
                  <a:lumMod val="75000"/>
                </a:schemeClr>
              </a:solidFill>
              <a:latin typeface="Trebuchet MS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A70824-0E85-E0C1-4727-01F451F38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7743" y="7347614"/>
            <a:ext cx="4036220" cy="106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7150" tIns="68574" rIns="137150" bIns="68574">
            <a:spAutoFit/>
          </a:bodyPr>
          <a:lstStyle/>
          <a:p>
            <a:pPr algn="ctr"/>
            <a:r>
              <a:rPr lang="en-US" sz="3000" dirty="0">
                <a:latin typeface="Trebuchet MS" pitchFamily="34" charset="0"/>
              </a:rPr>
              <a:t>Maximum</a:t>
            </a:r>
            <a:br>
              <a:rPr lang="en-US" sz="3000" dirty="0">
                <a:latin typeface="Trebuchet MS" pitchFamily="34" charset="0"/>
              </a:rPr>
            </a:br>
            <a:r>
              <a:rPr lang="en-US" sz="3000" dirty="0">
                <a:latin typeface="Trebuchet MS" pitchFamily="34" charset="0"/>
              </a:rPr>
              <a:t>Flexibility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D78224-0FB4-7A5B-4848-1EE9092F8574}"/>
              </a:ext>
            </a:extLst>
          </p:cNvPr>
          <p:cNvSpPr/>
          <p:nvPr/>
        </p:nvSpPr>
        <p:spPr>
          <a:xfrm>
            <a:off x="3772694" y="8952205"/>
            <a:ext cx="13285845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50" dirty="0">
                <a:latin typeface="Arial" panose="020B0604020202020204" pitchFamily="34" charset="0"/>
                <a:cs typeface="Arial" panose="020B0604020202020204" pitchFamily="34" charset="0"/>
              </a:rPr>
              <a:t>Ref. http://developer.download.nvidia.com/compute/developertrainingmaterials/presentations/general/Introduction_to_CUDA_Platform.pptx</a:t>
            </a:r>
            <a:endParaRPr lang="ko-KR" alt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F78D3673-B255-3C59-37AA-373EAEF4A0BD}"/>
              </a:ext>
            </a:extLst>
          </p:cNvPr>
          <p:cNvSpPr/>
          <p:nvPr/>
        </p:nvSpPr>
        <p:spPr>
          <a:xfrm>
            <a:off x="4394360" y="2390872"/>
            <a:ext cx="11734800" cy="1388268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  <a:lumOff val="25000"/>
                  <a:shade val="30000"/>
                  <a:satMod val="115000"/>
                  <a:alpha val="36000"/>
                </a:schemeClr>
              </a:gs>
              <a:gs pos="0">
                <a:schemeClr val="bg1">
                  <a:lumMod val="75000"/>
                  <a:lumOff val="25000"/>
                  <a:shade val="100000"/>
                  <a:satMod val="115000"/>
                </a:schemeClr>
              </a:gs>
            </a:gsLst>
            <a:lin ang="18900000" scaled="1"/>
          </a:gradFill>
          <a:ln w="38100">
            <a:solidFill>
              <a:srgbClr val="73B9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135896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261F0-3FDB-EC04-2600-A308B69B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”Drop-in” Libraries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3B1E87-538F-BEAB-DC95-29CD0201D6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" altLang="ko-KR" dirty="0"/>
              <a:t>“Drop-in” replacements for popular CPU libraries, examples from NVIDIA</a:t>
            </a:r>
          </a:p>
          <a:p>
            <a:pPr lvl="1"/>
            <a:r>
              <a:rPr kumimoji="1" lang="en" altLang="ko-KR" dirty="0"/>
              <a:t>CUBLAS/NVBLAS for BLAS (e.g. ATLAS)</a:t>
            </a:r>
          </a:p>
          <a:p>
            <a:pPr lvl="2"/>
            <a:r>
              <a:rPr kumimoji="1" lang="en" altLang="ko-KR" dirty="0"/>
              <a:t>ex. </a:t>
            </a:r>
            <a:r>
              <a:rPr kumimoji="1" lang="en" altLang="ko-KR" dirty="0" err="1"/>
              <a:t>saxpy</a:t>
            </a:r>
            <a:r>
              <a:rPr kumimoji="1" lang="en" altLang="ko-KR" dirty="0"/>
              <a:t>(…)  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en" altLang="ko-KR" dirty="0"/>
              <a:t>  </a:t>
            </a:r>
            <a:r>
              <a:rPr kumimoji="1" lang="en" altLang="ko-KR" dirty="0" err="1"/>
              <a:t>cublasSaxpy</a:t>
            </a:r>
            <a:r>
              <a:rPr kumimoji="1" lang="en" altLang="ko-KR" dirty="0"/>
              <a:t>(…)</a:t>
            </a:r>
          </a:p>
          <a:p>
            <a:pPr lvl="1"/>
            <a:r>
              <a:rPr kumimoji="1" lang="en-US" altLang="ko-KR" dirty="0"/>
              <a:t>CU</a:t>
            </a:r>
            <a:r>
              <a:rPr kumimoji="1" lang="en" altLang="ko-KR" dirty="0"/>
              <a:t>FFT for FFTW</a:t>
            </a:r>
          </a:p>
          <a:p>
            <a:r>
              <a:rPr kumimoji="1" lang="en" altLang="ko-KR" dirty="0"/>
              <a:t>MAGMA for LAPACK and BLAS</a:t>
            </a:r>
          </a:p>
          <a:p>
            <a:pPr lvl="1"/>
            <a:r>
              <a:rPr kumimoji="1" lang="en" altLang="ko-KR" dirty="0"/>
              <a:t>These libraries may still expect you to manage data transfers manually</a:t>
            </a:r>
          </a:p>
          <a:p>
            <a:endParaRPr kumimoji="1" lang="en" altLang="ko-KR" dirty="0"/>
          </a:p>
          <a:p>
            <a:r>
              <a:rPr kumimoji="1" lang="en" altLang="ko-KR" dirty="0"/>
              <a:t>Ease of use</a:t>
            </a:r>
          </a:p>
          <a:p>
            <a:pPr lvl="1"/>
            <a:r>
              <a:rPr kumimoji="1" lang="en" altLang="ko-KR" dirty="0"/>
              <a:t>Using libraries enables GPU acceleration without in-depth knowledge of GPU programming</a:t>
            </a:r>
          </a:p>
          <a:p>
            <a:r>
              <a:rPr kumimoji="1" lang="en" altLang="ko-KR" dirty="0"/>
              <a:t>Quality</a:t>
            </a:r>
          </a:p>
          <a:p>
            <a:pPr lvl="1"/>
            <a:r>
              <a:rPr kumimoji="1" lang="en" altLang="ko-KR" dirty="0"/>
              <a:t>Libraries offer high-quality implementation of functions encountered in a broad range of applications</a:t>
            </a:r>
          </a:p>
          <a:p>
            <a:r>
              <a:rPr kumimoji="1" lang="en" altLang="ko-KR" dirty="0"/>
              <a:t>Performance</a:t>
            </a:r>
          </a:p>
          <a:p>
            <a:pPr lvl="1"/>
            <a:r>
              <a:rPr kumimoji="1" lang="en" altLang="ko-KR" dirty="0"/>
              <a:t>NVIDIA libraries are tuned by experts</a:t>
            </a:r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677478-1AE3-8F15-AFA0-A87FE12E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1" r="47544" b="63966"/>
          <a:stretch>
            <a:fillRect/>
          </a:stretch>
        </p:blipFill>
        <p:spPr>
          <a:xfrm>
            <a:off x="10601495" y="6364196"/>
            <a:ext cx="7092755" cy="319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00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E22CA-991D-EEE3-C143-3BA32BBB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CUDA – Compute Unified Device Architecture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850FEA-95CB-FF66-A732-F1C4A23768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ko-KR" altLang="en-US" dirty="0"/>
              <a:t>엔비디아가 개발한 병렬 컴퓨팅 플랫폼 및 프로그래밍 모델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2006</a:t>
            </a:r>
            <a:r>
              <a:rPr kumimoji="1" lang="ko-KR" altLang="en-US" dirty="0"/>
              <a:t>년 개발</a:t>
            </a:r>
            <a:endParaRPr kumimoji="1" lang="en-US" altLang="ko-KR" dirty="0"/>
          </a:p>
          <a:p>
            <a:pPr lvl="1"/>
            <a:r>
              <a:rPr lang="ko-KR" altLang="ko-KR" dirty="0"/>
              <a:t>엔비디아의 </a:t>
            </a:r>
            <a:r>
              <a:rPr lang="ko-KR" altLang="ko-KR" dirty="0" err="1">
                <a:hlinkClick r:id="rId2" tooltip="GPGPU"/>
              </a:rPr>
              <a:t>GPGPU</a:t>
            </a:r>
            <a:r>
              <a:rPr lang="ko-KR" altLang="ko-KR" dirty="0" err="1"/>
              <a:t>를</a:t>
            </a:r>
            <a:r>
              <a:rPr lang="ko-KR" altLang="ko-KR" dirty="0"/>
              <a:t> 활용할 수 있게 해 주는 소프트웨어 </a:t>
            </a:r>
            <a:r>
              <a:rPr lang="ko-KR" altLang="en-US" dirty="0"/>
              <a:t>스택</a:t>
            </a:r>
            <a:endParaRPr lang="en-US" altLang="ko-KR" dirty="0"/>
          </a:p>
          <a:p>
            <a:pPr lvl="1"/>
            <a:r>
              <a:rPr lang="ko-KR" altLang="ko-KR" dirty="0"/>
              <a:t>CUDA 코어가 장착된 NVIDIA </a:t>
            </a:r>
            <a:r>
              <a:rPr lang="ko-KR" altLang="ko-KR" dirty="0" err="1"/>
              <a:t>GPU에서</a:t>
            </a:r>
            <a:r>
              <a:rPr lang="ko-KR" altLang="ko-KR" dirty="0"/>
              <a:t> 작동</a:t>
            </a:r>
            <a:endParaRPr lang="en-US" altLang="ko-KR" dirty="0"/>
          </a:p>
          <a:p>
            <a:pPr lvl="1"/>
            <a:r>
              <a:rPr lang="ko-KR" altLang="ko-KR" dirty="0" err="1"/>
              <a:t>GPU의</a:t>
            </a:r>
            <a:r>
              <a:rPr lang="ko-KR" altLang="ko-KR" dirty="0"/>
              <a:t> </a:t>
            </a:r>
            <a:r>
              <a:rPr lang="ko-KR" altLang="ko-KR" dirty="0">
                <a:hlinkClick r:id="rId3" tooltip="명령어 집합"/>
              </a:rPr>
              <a:t>명령어 집합</a:t>
            </a:r>
            <a:r>
              <a:rPr lang="ko-KR" altLang="ko-KR" dirty="0"/>
              <a:t> 및 병렬 컴퓨팅 요소에 직접 접근하여 </a:t>
            </a:r>
            <a:r>
              <a:rPr lang="ko-KR" altLang="ko-KR" dirty="0">
                <a:hlinkClick r:id="rId4" tooltip="컴퓨트 커널"/>
              </a:rPr>
              <a:t>커널</a:t>
            </a:r>
            <a:r>
              <a:rPr lang="ko-KR" altLang="ko-KR" dirty="0"/>
              <a:t>을 실행할 </a:t>
            </a:r>
            <a:r>
              <a:rPr lang="ko-KR" altLang="ko-KR"/>
              <a:t>수 있</a:t>
            </a:r>
            <a:r>
              <a:rPr lang="ko-KR" altLang="en-US"/>
              <a:t>게 함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CUDA </a:t>
            </a:r>
            <a:r>
              <a:rPr kumimoji="1" lang="ko-KR" altLang="en-US" dirty="0"/>
              <a:t>커널</a:t>
            </a:r>
            <a:endParaRPr kumimoji="1" lang="en-US" altLang="ko-KR" dirty="0"/>
          </a:p>
          <a:p>
            <a:pPr lvl="1"/>
            <a:r>
              <a:rPr lang="ko-KR" altLang="ko-KR" dirty="0"/>
              <a:t>CUDA 코드는 대략 GPU 안에서만 돌아가는 함수를 호스트(</a:t>
            </a:r>
            <a:r>
              <a:rPr lang="ko-KR" altLang="ko-KR" dirty="0">
                <a:hlinkClick r:id="rId5" tooltip="CPU"/>
              </a:rPr>
              <a:t>CPU</a:t>
            </a:r>
            <a:r>
              <a:rPr lang="ko-KR" altLang="ko-KR" dirty="0"/>
              <a:t>)에서 호출하는 형태</a:t>
            </a:r>
            <a:endParaRPr lang="en-US" altLang="ko-KR" dirty="0"/>
          </a:p>
          <a:p>
            <a:pPr lvl="1"/>
            <a:r>
              <a:rPr kumimoji="1" lang="en-US" altLang="ko-KR" dirty="0"/>
              <a:t>GPU</a:t>
            </a:r>
            <a:r>
              <a:rPr kumimoji="1" lang="ko-KR" altLang="en-US" dirty="0"/>
              <a:t> 에서 동작하는 함수를 일반적으로 커널이라고 부름</a:t>
            </a:r>
          </a:p>
        </p:txBody>
      </p:sp>
    </p:spTree>
    <p:extLst>
      <p:ext uri="{BB962C8B-B14F-4D97-AF65-F5344CB8AC3E}">
        <p14:creationId xmlns:p14="http://schemas.microsoft.com/office/powerpoint/2010/main" val="57568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코드 vs Device 코드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host_device_co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8167" y="1661856"/>
            <a:ext cx="9599719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7228332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= 모든 Python · Device(커널) = Python의 일부(subset)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GPU에서 동작하는 NumPy 인터페이스의 부분집합 구현체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NumPy/SciPy와 약 80~90% 호환 — import만 바꿔도 대부분 동작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할당·커널 실행을 CuPy가 대신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· NVIDIA CUDA &amp; AMD ROCm 백엔드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DLPack·CUDA Array Interface·NEP18로 무복사 상호운용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시 사용자 정의 CUDA 커널 (Day 2)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CuPy를 구동하는 라이브러리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534156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cuBLAS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534156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선형대수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82635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24951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cuFFT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24951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272516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15746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cuSPARSE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515746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희소행렬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291840" y="4266590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34156" y="4525366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cuSOLVER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34156" y="5334610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분해·solve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82635" y="4266590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24951" y="4525366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cuRAND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524951" y="5334610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난수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272516" y="4266590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515746" y="4525366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Thrust/CUB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515746" y="5334610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정렬·리덕션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291840" y="7341718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한 줄 뒤에서 NVIDIA 검증 라이브러리가 동작.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드롭인 대체 — 한 줄 치환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x_gpu = cp.array([1,2,3]) 는 cupy.ndarray (현재 디바이스에 할당)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cupy as cp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np.array([1,2,3]); l2 = np.linalg.norm(x)   # CPU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cp.array([1,2,3]); l2 = cp.linalg.norm(x)   # GPU (동일 문법)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디바이스 (current device)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연산은 '현재 디바이스'에서 일어남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cp.array([1,2,3])          # 현재 디바이스(보통 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cp.cuda.Device(1):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cp.array([1,2,3])      # GPU 1에 생성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print(x1.device)                # &lt;CUDA Device 1&gt;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4784141"/>
            <a:ext cx="14242694" cy="296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 입력은 같은 디바이스에 (불일치 시 P2P 시도, 안되면 ValueError)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전송 API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x_gpu = cp.asarray(x_cpu)   # host(또는 다른 device)→현재 device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x_cpu = cp.asnumpy(x_gpu)   # device→host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x_cpu = x_gpu.get()         # 동일(메서드형)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asarray는 가능하면 복사 안 함(같은 device면 그대로 반환)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asarray ≈ array(arr, copy=False)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스트림 (current stream)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CUDA 작업(전송·커널)은 '현재 스트림'에 큐잉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스트림 작업은 순서대로(직렬), host에 대해선 비동기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기본은 null(legacy default) 스트림, 디바이스마다 고유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per-thread·per-device 로 관리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cp.cuda.get_current_stream() 로 조회 (자세히는 06)</a:t>
            </a:r>
            <a:endParaRPr lang="en-US" sz="2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 ≠ NumPy: 차이점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4" cy="4855464"/>
        </p:xfrm>
        <a:graphic>
          <a:graphicData uri="http://schemas.openxmlformats.org/drawingml/2006/table">
            <a:tbl>
              <a:tblPr/>
              <a:tblGrid>
                <a:gridCol w="3884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2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경계 밖 인덱싱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IndexError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wrap-around (조용히!)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문자열·object 가능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숫자형 위주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난수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cuRAND, bit 불일치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리덕션 결과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스칼라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0-차원 ndarray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ufunc 입력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list·np 허용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 배열/스칼라만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차이점 — 코드로 보기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cp.array([0,1,2]); x[[1,3]] = 10   # NumPy=IndexError, CuPy=wrap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cp.sum(cp.arange(3))               # 0-차원 ndarray (스칼라 아님)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cp.power([cp.arange(5)], 2)            # TypeError: list 불가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x_gpu + y_numpy                         # 에러 (전송 필요)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검증은 ==가 아니라 allclose, 스칼라는 float()/.item()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 루틴 지도 (공식 overview)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4" cy="4046220"/>
        </p:xfrm>
        <a:graphic>
          <a:graphicData uri="http://schemas.openxmlformats.org/drawingml/2006/table">
            <a:tbl>
              <a:tblPr/>
              <a:tblGrid>
                <a:gridCol w="307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N차원 배열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cupy.ndarray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루틴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cupy.* · linalg · fft · random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cuBLAS·cuSOLVER·cuFFT·cuRAND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 루틴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cupyx.scipy.fft/linalg/ndimage/signal…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cuFFT·cuSOLVER 등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희소행렬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cupyx.scipy.sparse(.linalg)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cuSPARSE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53689" y="6856171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ndarray→02 · NumPy→03 · SciPy→04 · 메모리/스트림→05/06 · 커널→Day2</a:t>
            </a:r>
            <a:endParaRPr lang="en-US" sz="2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60B5-68FB-CD17-264D-3BEF26E1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5CCEB-60AE-5FE6-52BE-6A8A1548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(1)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925EFE-3D32-9490-E1AD-61CFF31599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482246-01B8-1DB1-F078-949D16F8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96" y="1659973"/>
            <a:ext cx="14400000" cy="7441547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6375300-7593-8BB7-D121-4BDF1F6DCB5F}"/>
              </a:ext>
            </a:extLst>
          </p:cNvPr>
          <p:cNvSpPr/>
          <p:nvPr/>
        </p:nvSpPr>
        <p:spPr>
          <a:xfrm>
            <a:off x="3409627" y="2898183"/>
            <a:ext cx="2169763" cy="55793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F85FCB7-1B70-4BD9-831B-F7B8C0314E3E}"/>
              </a:ext>
            </a:extLst>
          </p:cNvPr>
          <p:cNvSpPr/>
          <p:nvPr/>
        </p:nvSpPr>
        <p:spPr>
          <a:xfrm>
            <a:off x="15684484" y="3177152"/>
            <a:ext cx="2117012" cy="55793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4FE9D4-5339-19DC-DEA1-368B819C222F}"/>
              </a:ext>
            </a:extLst>
          </p:cNvPr>
          <p:cNvSpPr/>
          <p:nvPr/>
        </p:nvSpPr>
        <p:spPr>
          <a:xfrm>
            <a:off x="5005954" y="2179785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DE0E72A-F9F2-786F-C7C1-3FD57D601513}"/>
              </a:ext>
            </a:extLst>
          </p:cNvPr>
          <p:cNvSpPr/>
          <p:nvPr/>
        </p:nvSpPr>
        <p:spPr>
          <a:xfrm>
            <a:off x="15526720" y="3881916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376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478B-C2C7-37AA-0EB4-273E80E7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F982E-CD3E-FDBE-6D0C-AEC09586D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(2)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BCB0DB-2B31-2638-C603-E532A2498E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095F55-21BB-46BC-D48D-958B0F01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99" y="1655490"/>
            <a:ext cx="14400000" cy="7450514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1C57945-DA66-E5D9-FBDA-029E0E697619}"/>
              </a:ext>
            </a:extLst>
          </p:cNvPr>
          <p:cNvSpPr/>
          <p:nvPr/>
        </p:nvSpPr>
        <p:spPr>
          <a:xfrm>
            <a:off x="6385301" y="5594889"/>
            <a:ext cx="2355743" cy="8834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C9D4717-D0A6-1F59-F924-6BBE684069F4}"/>
              </a:ext>
            </a:extLst>
          </p:cNvPr>
          <p:cNvSpPr/>
          <p:nvPr/>
        </p:nvSpPr>
        <p:spPr>
          <a:xfrm>
            <a:off x="6075335" y="5092473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B2D0171-6250-D1CC-2929-57751544CA1E}"/>
              </a:ext>
            </a:extLst>
          </p:cNvPr>
          <p:cNvSpPr/>
          <p:nvPr/>
        </p:nvSpPr>
        <p:spPr>
          <a:xfrm>
            <a:off x="6385301" y="8382257"/>
            <a:ext cx="2355743" cy="8834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29A7A8B-69BC-CAF9-7FF7-894AF866AD4D}"/>
              </a:ext>
            </a:extLst>
          </p:cNvPr>
          <p:cNvSpPr/>
          <p:nvPr/>
        </p:nvSpPr>
        <p:spPr>
          <a:xfrm>
            <a:off x="6075335" y="7879841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9219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4A404-E2F3-4AF5-6B05-2FEBB2B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672C7-2956-D4C1-D153-EA6AA8E10B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B348D6-2AE3-8D20-B949-5C4DE0CE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99" y="1837652"/>
            <a:ext cx="14400000" cy="7460802"/>
          </a:xfrm>
          <a:prstGeom prst="rect">
            <a:avLst/>
          </a:prstGeom>
        </p:spPr>
      </p:pic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61BE192-C26C-C4C0-8919-6D69636CE8C3}"/>
              </a:ext>
            </a:extLst>
          </p:cNvPr>
          <p:cNvSpPr/>
          <p:nvPr/>
        </p:nvSpPr>
        <p:spPr>
          <a:xfrm>
            <a:off x="7625165" y="6812784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A3CF94E-F252-F1E4-052E-F535327723FE}"/>
              </a:ext>
            </a:extLst>
          </p:cNvPr>
          <p:cNvSpPr/>
          <p:nvPr/>
        </p:nvSpPr>
        <p:spPr>
          <a:xfrm>
            <a:off x="7315199" y="6192853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10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3CB3D-ECDC-9081-90E9-469247FC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(4)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A75C12-126B-75AE-B67A-B092925B30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43B86A-B4CF-5D8A-CFBE-3BD2F8DD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994" y="1662066"/>
            <a:ext cx="14400000" cy="7437362"/>
          </a:xfrm>
          <a:prstGeom prst="rect">
            <a:avLst/>
          </a:prstGeom>
        </p:spPr>
      </p:pic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D45BA42-DB90-38E0-2E0E-6E4D3F09D600}"/>
              </a:ext>
            </a:extLst>
          </p:cNvPr>
          <p:cNvSpPr/>
          <p:nvPr/>
        </p:nvSpPr>
        <p:spPr>
          <a:xfrm>
            <a:off x="7625165" y="5993827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918898-1102-5631-3FAA-0731760A6473}"/>
              </a:ext>
            </a:extLst>
          </p:cNvPr>
          <p:cNvSpPr/>
          <p:nvPr/>
        </p:nvSpPr>
        <p:spPr>
          <a:xfrm>
            <a:off x="7315199" y="5484835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FB4CAB7-BCC9-CA48-7A1D-304365F16328}"/>
              </a:ext>
            </a:extLst>
          </p:cNvPr>
          <p:cNvSpPr/>
          <p:nvPr/>
        </p:nvSpPr>
        <p:spPr>
          <a:xfrm>
            <a:off x="12272075" y="6812655"/>
            <a:ext cx="1335438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8690372-771E-B6FD-3F59-132F95A67C89}"/>
              </a:ext>
            </a:extLst>
          </p:cNvPr>
          <p:cNvSpPr/>
          <p:nvPr/>
        </p:nvSpPr>
        <p:spPr>
          <a:xfrm>
            <a:off x="11962108" y="6303663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580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76CCB-6737-9E7A-9EBA-04F36D67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(5)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26E70-EE3C-5AF0-E3C5-3F40632BE1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3AD2CC-BBB7-4731-B017-B3A3458CA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96" y="1837652"/>
            <a:ext cx="14400000" cy="7460802"/>
          </a:xfrm>
          <a:prstGeom prst="rect">
            <a:avLst/>
          </a:prstGeom>
        </p:spPr>
      </p:pic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49421AC-1E80-1BC3-5A46-4290D576E19E}"/>
              </a:ext>
            </a:extLst>
          </p:cNvPr>
          <p:cNvSpPr/>
          <p:nvPr/>
        </p:nvSpPr>
        <p:spPr>
          <a:xfrm>
            <a:off x="6059837" y="6859278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55A878F-33B8-FDC0-497B-0F5A6C7719D8}"/>
              </a:ext>
            </a:extLst>
          </p:cNvPr>
          <p:cNvSpPr/>
          <p:nvPr/>
        </p:nvSpPr>
        <p:spPr>
          <a:xfrm>
            <a:off x="5749871" y="6239347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000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68023-5508-AB76-6600-6ECEC7A2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(6)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392549-4091-3AF5-4DD6-06204089E8D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CACEC5-085C-36F8-AB3E-909D81BA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99" y="1842145"/>
            <a:ext cx="14400000" cy="7456309"/>
          </a:xfrm>
          <a:prstGeom prst="rect">
            <a:avLst/>
          </a:prstGeom>
        </p:spPr>
      </p:pic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7212088-9378-A1AC-9BDC-EA3C58EBB6CE}"/>
              </a:ext>
            </a:extLst>
          </p:cNvPr>
          <p:cNvSpPr/>
          <p:nvPr/>
        </p:nvSpPr>
        <p:spPr>
          <a:xfrm>
            <a:off x="6354304" y="5143500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6F2724D-295F-36E1-B256-A8715FCB9F29}"/>
              </a:ext>
            </a:extLst>
          </p:cNvPr>
          <p:cNvSpPr/>
          <p:nvPr/>
        </p:nvSpPr>
        <p:spPr>
          <a:xfrm>
            <a:off x="6044338" y="4523569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7E32ED6-590B-ECC7-1CF1-FC3650E3BB81}"/>
              </a:ext>
            </a:extLst>
          </p:cNvPr>
          <p:cNvSpPr/>
          <p:nvPr/>
        </p:nvSpPr>
        <p:spPr>
          <a:xfrm>
            <a:off x="13913095" y="5645917"/>
            <a:ext cx="3427253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E69239C-53F6-0B34-D6C6-FEAD3958E7E2}"/>
              </a:ext>
            </a:extLst>
          </p:cNvPr>
          <p:cNvSpPr/>
          <p:nvPr/>
        </p:nvSpPr>
        <p:spPr>
          <a:xfrm>
            <a:off x="13603129" y="5025986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A84D92E-B997-1201-A2A0-ACEC00B0CA1B}"/>
              </a:ext>
            </a:extLst>
          </p:cNvPr>
          <p:cNvSpPr/>
          <p:nvPr/>
        </p:nvSpPr>
        <p:spPr>
          <a:xfrm>
            <a:off x="9733590" y="4774777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E64F75D-6D53-D34A-1D8C-8591EEAD325D}"/>
              </a:ext>
            </a:extLst>
          </p:cNvPr>
          <p:cNvSpPr/>
          <p:nvPr/>
        </p:nvSpPr>
        <p:spPr>
          <a:xfrm>
            <a:off x="9423624" y="4213603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75521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B689C-A637-C039-C15A-7EA0824E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(7)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07DAF-EEFC-C0EB-0CEB-BFD3C071DD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54F2090-8CC5-7D2C-C309-C8F90113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96" y="1832824"/>
            <a:ext cx="14400000" cy="7465630"/>
          </a:xfrm>
          <a:prstGeom prst="rect">
            <a:avLst/>
          </a:prstGeom>
        </p:spPr>
      </p:pic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2E20DAC-0706-C4C6-2B4B-A6E188DE5FDD}"/>
              </a:ext>
            </a:extLst>
          </p:cNvPr>
          <p:cNvSpPr/>
          <p:nvPr/>
        </p:nvSpPr>
        <p:spPr>
          <a:xfrm>
            <a:off x="11360257" y="6476355"/>
            <a:ext cx="1735811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35564AC-9DC2-B802-606B-4712B0D72B16}"/>
              </a:ext>
            </a:extLst>
          </p:cNvPr>
          <p:cNvSpPr/>
          <p:nvPr/>
        </p:nvSpPr>
        <p:spPr>
          <a:xfrm>
            <a:off x="11050291" y="5856424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341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BAF5B-50CA-6BB2-8031-24735343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(8)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1E612-3582-9B21-34DD-A23470EA7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B2AA86-9331-C69A-42A5-61425697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100" y="1592330"/>
            <a:ext cx="14400000" cy="74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14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CE5F-5887-0AD3-515D-6011F725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0EFC9-7233-037D-4C41-DB605C93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Vessl </a:t>
            </a:r>
            <a:r>
              <a:rPr kumimoji="1" lang="ko-KR" altLang="en-US" dirty="0"/>
              <a:t>클라우드 워크스페이스 생성</a:t>
            </a:r>
            <a:r>
              <a:rPr kumimoji="1" lang="en-US" altLang="ko-KR" dirty="0"/>
              <a:t>(9) – </a:t>
            </a:r>
            <a:r>
              <a:rPr kumimoji="1" lang="ko-KR" altLang="en-US" dirty="0" err="1"/>
              <a:t>주피터랩</a:t>
            </a:r>
            <a:r>
              <a:rPr kumimoji="1" lang="ko-KR" altLang="en-US" dirty="0"/>
              <a:t>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B5129D-456F-5783-F008-8A6C0DFB9F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CAD8E8-08C9-95F1-C0EC-F8B6B01E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99" y="1645863"/>
            <a:ext cx="14400000" cy="7469767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8523471-2C9D-8449-C8DB-29A4FEF851E0}"/>
              </a:ext>
            </a:extLst>
          </p:cNvPr>
          <p:cNvSpPr/>
          <p:nvPr/>
        </p:nvSpPr>
        <p:spPr>
          <a:xfrm>
            <a:off x="8276094" y="5409805"/>
            <a:ext cx="5920353" cy="5024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842C90B-CF64-4BB5-6D79-3E18C400E41D}"/>
              </a:ext>
            </a:extLst>
          </p:cNvPr>
          <p:cNvSpPr/>
          <p:nvPr/>
        </p:nvSpPr>
        <p:spPr>
          <a:xfrm>
            <a:off x="7860626" y="4917015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0950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F42F7-B0DA-5886-311D-E32EAE42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주피터랩</a:t>
            </a:r>
            <a:r>
              <a:rPr kumimoji="1" lang="ko-KR" altLang="en-US" dirty="0"/>
              <a:t> 설정 </a:t>
            </a:r>
            <a:r>
              <a:rPr kumimoji="1" lang="en-US" altLang="ko-KR" dirty="0"/>
              <a:t>(1)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F7E49-B759-F6F8-438E-2029BF61EF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4B8A1B-1133-54FD-FF35-4589C732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7" y="1592830"/>
            <a:ext cx="14400000" cy="7493212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7CB3EA8-A7FB-6A0C-835F-68B8BAF4C5E5}"/>
              </a:ext>
            </a:extLst>
          </p:cNvPr>
          <p:cNvSpPr/>
          <p:nvPr/>
        </p:nvSpPr>
        <p:spPr>
          <a:xfrm>
            <a:off x="7656162" y="6354306"/>
            <a:ext cx="1348353" cy="114687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410D9AF-5A24-A71A-5ACB-0C5E1AF63CDB}"/>
              </a:ext>
            </a:extLst>
          </p:cNvPr>
          <p:cNvSpPr/>
          <p:nvPr/>
        </p:nvSpPr>
        <p:spPr>
          <a:xfrm>
            <a:off x="7241595" y="5977509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021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54B21-67DB-D1B5-94E9-E41AA9FF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주피터랩</a:t>
            </a:r>
            <a:r>
              <a:rPr kumimoji="1" lang="ko-KR" altLang="en-US" dirty="0"/>
              <a:t> 설정 </a:t>
            </a:r>
            <a:r>
              <a:rPr kumimoji="1" lang="en-US" altLang="ko-KR" dirty="0"/>
              <a:t>(2) – </a:t>
            </a:r>
            <a:r>
              <a:rPr kumimoji="1" lang="ko-KR" altLang="en-US" dirty="0"/>
              <a:t>실습파일 복사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774B7-7A6D-BC43-6451-BA22262688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9CC79A-780A-6D62-451B-6A2249B0D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96" y="1634519"/>
            <a:ext cx="14400000" cy="7492456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B842F4A-98AF-9FD8-F475-5E1CD803B06C}"/>
              </a:ext>
            </a:extLst>
          </p:cNvPr>
          <p:cNvSpPr/>
          <p:nvPr/>
        </p:nvSpPr>
        <p:spPr>
          <a:xfrm>
            <a:off x="8469823" y="5294434"/>
            <a:ext cx="3749886" cy="61993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5B699A8-A3F8-2726-B2A5-F3F66BDC177E}"/>
              </a:ext>
            </a:extLst>
          </p:cNvPr>
          <p:cNvSpPr/>
          <p:nvPr/>
        </p:nvSpPr>
        <p:spPr>
          <a:xfrm>
            <a:off x="8055256" y="4917637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AC63D3C-6FCE-5557-B1DD-848798C36B8B}"/>
              </a:ext>
            </a:extLst>
          </p:cNvPr>
          <p:cNvSpPr/>
          <p:nvPr/>
        </p:nvSpPr>
        <p:spPr>
          <a:xfrm>
            <a:off x="7269056" y="7483452"/>
            <a:ext cx="9391621" cy="105611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git clone https://</a:t>
            </a:r>
            <a:r>
              <a:rPr kumimoji="1" lang="en-US" altLang="ko-KR" sz="28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github.com</a:t>
            </a:r>
            <a:r>
              <a:rPr kumimoji="1"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en-US" altLang="ko-KR" sz="28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jihoonakang</a:t>
            </a:r>
            <a:r>
              <a:rPr kumimoji="1"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en-US" altLang="ko-KR" sz="2800" b="1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cupy</a:t>
            </a:r>
            <a:endParaRPr kumimoji="1" lang="ko-KR" altLang="en-US" sz="28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1590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8F53-BB4F-E088-8266-8A253D98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98EF7-7ED0-6B38-65A5-42E15B5A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주피터랩</a:t>
            </a:r>
            <a:r>
              <a:rPr kumimoji="1" lang="ko-KR" altLang="en-US" dirty="0"/>
              <a:t> 설정 </a:t>
            </a:r>
            <a:r>
              <a:rPr kumimoji="1" lang="en-US" altLang="ko-KR" dirty="0"/>
              <a:t>(2) – </a:t>
            </a:r>
            <a:r>
              <a:rPr kumimoji="1" lang="ko-KR" altLang="en-US"/>
              <a:t>실습파일 열기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CF4A78-E953-C1BD-B816-F9FC53F697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6E6F8B-95FB-494A-4608-1FFBDDAAD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96" y="1641392"/>
            <a:ext cx="14400000" cy="7478709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2707C60-A866-CFA2-3310-C8E606D2CFD6}"/>
              </a:ext>
            </a:extLst>
          </p:cNvPr>
          <p:cNvSpPr/>
          <p:nvPr/>
        </p:nvSpPr>
        <p:spPr>
          <a:xfrm>
            <a:off x="3789335" y="2241268"/>
            <a:ext cx="1154624" cy="42444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27BFD29-8BCA-813B-41F1-B0C5A9FCAE4C}"/>
              </a:ext>
            </a:extLst>
          </p:cNvPr>
          <p:cNvSpPr/>
          <p:nvPr/>
        </p:nvSpPr>
        <p:spPr>
          <a:xfrm>
            <a:off x="3373866" y="1702907"/>
            <a:ext cx="619932" cy="6199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9361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환경 설정 &amp; 점검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버전에 맞춰 휠 설치(택1)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cupy-cuda12x      # CUDA 12.x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cupy-cuda11x      # CUDA 11.x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scipy matplotlib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course_utils import print_env; print_env()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GPU 연산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cp.arange(10, dtype=cp.float32)   # GPU 생성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cp.sin(x) + 2.0                   # GPU 계산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print(type(x), x.device)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print(cp.asnumpy(y))                  # host로 가져와 확인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비동기 타이밍의 함정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GPU는 비동기 — perf_counter 한 번으로는 부정확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(1) 잘못: sync 없음 (제출 시간만)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(2) 정상: work(); cp.cuda.Device().synchronize()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(3) 권장: bench(work, n_repeat=20, n_warmup=3)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일회성 오버헤드 &amp; 워밍업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측정이 느린 이유: 컨텍스트 초기화(수 초) + 커널 JIT 컴파일(캐시)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~/.cupy/kernel_cache 에 캐시 → 두 번째부터 빠름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%load_ext cupyx.profiler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%gpu_timeit (cp.random.random(1_000_000, dtype='f4')**2).sum()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비용 (host ↔ device)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원칙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asarray/asnumpy=PCIe 복사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연산은 GPU에 머무르게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전송은 필요할 때만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안티패턴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안 asnumpy/float()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스텝 host 동기화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전송이 병목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291840" y="7503566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단원 3(메모리)에서 심화.</a:t>
            </a:r>
            <a:endParaRPr lang="en-US" sz="2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— NumPy → CuPy 포팅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 표준화 후 [0,1] 클리핑을 CuPy로 (feature_gpu)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feature_cpu(x):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mu=x.mean(); sd=x.std()+1e-8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np.clip((x-mu)/sd, 0.0, 1.0)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feature_gpu(x): cp.*만, 중간 asnumpy 금지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&amp; 포인트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feature_gpu(x):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mu=x.mean(); sd=x.std()+1e-8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cp.clip((x-mu)/sd, 0.0, 1.0)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cp.asnumpy(feature_gpu(cp.asarray(x_np)))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np.testing.assert_allclose(ref, out, rtol=1e-5, atol=1e-5)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096512"/>
            <a:ext cx="14242694" cy="3649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np.→cp. 치환만으로 동작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asnumpy는 검증 위해 마지막 한 번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SM · warp 스케줄러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SM(Streaming Multiprocessor)이 GPU 연산의 기본 단위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SM은 여러 warp 스케줄러 — 매 사이클 준비된 warp의 명령 발행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warp(32스레드)가 스케줄링 단위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warp가 메모리 대기 중이면 다른 warp 실행 = latency hiding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'많은 스레드'가 메모리 지연을 숨긴다</a:t>
            </a:r>
            <a:endParaRPr lang="en-US" sz="2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루프라인 — 메모리 vs 연산 바운드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상한 ≈ min( 최대 연산율,  대역폭 × 연산강도 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연산강도(AI) = 연산량 / 전송 바이트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낮음 → 메모리 바운드(대역폭 병목)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높음 → 연산 바운드(연산율 병목)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배열 연산은 메모리 바운드 → 대역폭·재사용이 관건</a:t>
            </a:r>
            <a:endParaRPr lang="en-US" sz="2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단원 1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CPU(지연)·GPU(처리량) 차이 설명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host/device·current device·SIMT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드롭인 — 차이점 주의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→ bench 측정, 전송 최소화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01 — 벤치마킹·손익분기</a:t>
            </a:r>
            <a:endParaRPr 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1 · 노트북 01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vs CuPy 벤치마크 기본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측정 · 손익분기점 · 전송 비용 · 벡터화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GPU 벤치마킹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크기별 손익분기점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포함 e2e vs 연산만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벡터화가 왜 필수인가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벤치마킹 원칙(3~6)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오버헤드·%gpu_timeit(7~8)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손익분기·전송(9~13)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벡터화(14~15)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실습(16~20)</a:t>
            </a:r>
            <a:endParaRPr lang="en-US" sz="2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벤치마킹이 까다로운가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연산은 비동기 — '제출'만 하고 즉시 반환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perf_counter 한 번이면 커널 끝나기 전 시간이 찍힘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호출엔 컨텍스트·JIT 1회성 비용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측정값은 워밍업·동기화·반복이 있어야 신뢰 가능</a:t>
            </a:r>
            <a:endParaRPr lang="en-US" sz="2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벤치마킹 3원칙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534156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워밍업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534156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1회성 비용 버리기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82635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24951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동기화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24951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완료 대기 후 측정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272516" y="1838858"/>
            <a:ext cx="4585716" cy="210403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15746" y="2097634"/>
            <a:ext cx="410017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반복 평균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515746" y="2906878"/>
            <a:ext cx="410017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평균±표준편차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91840" y="7341718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cupyx.profiler.benchmark = course_utils.bench 가 셋 다 처리.</a:t>
            </a:r>
            <a:endParaRPr lang="en-US" sz="2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benchmark가 하는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스트림 동기화로 GPU 시간 정확 측정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워밍업 반복 후 본 측정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CPU(wall-clock) + GPU(kernel) 시간 함께 보고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통계(평균/표준편차) 제공</a:t>
            </a:r>
            <a:endParaRPr lang="en-US" sz="2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wall-clock vs kernel 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cpu_times: wall-clock(전송·동기화 포함, e2e)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gpu_times: 순수 커널 시간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CPU↔GPU 비교 → wall-clock 기준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compare()가 speedup 출력</a:t>
            </a:r>
            <a:endParaRPr lang="en-US" sz="2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일회성 오버헤드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CUDA 호출: 컨텍스트 초기화(수 초)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shape/dtype별 커널 JIT 컴파일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결과는 ~/.cupy/kernel_cache 에 캐시(재사용)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FFT는 plan 캐시도 사용(메모리 차지 가능)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워밍업으로 분리</a:t>
            </a:r>
            <a:endParaRPr lang="en-US" sz="2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%gpu_timeit (주피터)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%load_ext cupyx.profiler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%gpu_timeit -n 20 (cp.random.random(1_000_000,dtype='f4')**2).sum()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%%gpu_timeit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cp.random.random((2000,2000),dtype='f4'); y = x @ x.T</a:t>
            </a:r>
            <a:endParaRPr lang="en-US" sz="1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크기별 손익분기점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latency_bandwid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GPU=런치+전송 오버헤드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N: CPU 빠름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N: GPU 역전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충분한 작업량 필요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손익분기는 왜 생기나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런치 오버헤드: 수~수십 µs/호출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host↔device 전송 비용(PCIe)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데이터는 고정비용이 지배 → CPU 유리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 강도↑ → 작은 데이터로도 GPU 이득</a:t>
            </a:r>
            <a:endParaRPr lang="en-US" sz="2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연산 강도(arithmetic intensity)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연산량 / 데이터 이동량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낮음: 원소별 합(O(N)) → 메모리 바운드, 큰 데이터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높음: 행렬곱(O(N³)/O(N²) 데이터) → 작은 데이터로도 이득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높을수록 GPU·고대역폭의 이점이 큼</a:t>
            </a:r>
            <a:endParaRPr lang="en-US" sz="2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포함 end-to-end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'연산만' vs '연산+전송'을 분리 측정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r_compute = bench(lambda: (a*2+1).sum())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r_e2e     = bench(lambda: cp.asnumpy((a*2+1).sum()))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print_bench(r_compute); print_bench(r_e2e)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4420210"/>
            <a:ext cx="14242694" cy="332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스칼라 하나도 전송 오버헤드 → 반복 전송 회피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벡터화의 힘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vectorize_vs_lo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 ms → 2.63 ms (~260×)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루프=네이티브 최적화 못 씀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GPU에선 특히 치명적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배열 연산으로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직렬 for 루프를 피하라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avoid_serial_loop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5538" y="1596542"/>
            <a:ext cx="13918997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7228332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하나씩(직렬)→느림 · 모두 동시에(벡터화)→빠름(한 커널)</a:t>
            </a:r>
            <a:endParaRPr lang="en-US" sz="2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A — dtype 처리량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연산을 float32 vs float64로 측정해 시간비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dtype_ratio(n=20_000_000):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a32=cp.random.random(n,dtype=cp.float32)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a64=cp.random.random(n,dtype=cp.float64)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각 bench 후 (f64/f32) 반환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53689" y="5027371"/>
            <a:ext cx="14242694" cy="271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소비자용 GPU는 float64가 보통 느림(배수는 GPU 의존)</a:t>
            </a:r>
            <a:endParaRPr lang="en-US" sz="2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A 솔루션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dtype_ratio(n=20_000_000):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a32=cp.random.random(n,dtype=cp.float32)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a64=cp.random.random(n,dtype=cp.float64)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r32=bench(lambda:(a32*1.1+2).sum())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r64=bench(lambda:(a64*1.1+2).sum())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gpu_ms(r64)/gpu_ms(r32)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460443"/>
            <a:ext cx="14242694" cy="328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요구 없으면 float32 선호(메모리·속도)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B — matmul 손익분기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A@A 에서 GPU가 CPU를 이기는 N 찾기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[64,128,256,512,1024,2048]: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A=np.random.random((N,N)).astype('f4'); G=cp.asarray(A)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compare(f'matmul N={N}', lambda:A@A, lambda:G@G)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4420210"/>
            <a:ext cx="14242694" cy="332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O(N³)이라 원소별보다 손익분기 N이 작다</a:t>
            </a:r>
            <a:endParaRPr lang="en-US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 실습 — 손익분기 크기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cp.sort vs np.sort 시간이 역전되는 N 찾기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find_breakeven(sizes):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sizes: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compare(np.sort, cp.sort)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speedup&gt;=1 처음 N 반환</a:t>
            </a:r>
            <a:endParaRPr lang="en-US" sz="1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 실습 솔루션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find_breakeven(sizes):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be=None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sizes: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y=np.random.rand(n).astype('f4'); g=cp.asarray(y)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c,gp,sp=compare(f'N={n}', lambda:np.sort(y), lambda:cp.sort(g))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be is None and sp&gt;=1.0: be=n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825289"/>
            <a:ext cx="14242694" cy="2921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N=GPU 느림 → 큰 N 역전</a:t>
            </a:r>
            <a:endParaRPr lang="en-US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측정 체크리스트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워밍업·동기화·반복(=bench) 사용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CPU↔GPU는 wall-clock으로 비교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'연산만'과 '전송 포함'을 구분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크기에서 측정(손익분기)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벡터화·dtype을 함께 고려</a:t>
            </a:r>
            <a:endParaRPr lang="en-US" sz="2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루프라인 &amp; 연산 강도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x축=연산강도(FLOP/byte), y축=성능(FLOP/s)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경사진 '대역폭 지붕' + 평평한 '연산 지붕' → 교차점(ridge)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&lt; ridge: 메모리 바운드 → 재사용↑ 또는 대역폭↑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&gt; ridge: 연산 바운드 → 연산 최적화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벤치마크로 내 커널이 어느 쪽인지 판단</a:t>
            </a:r>
            <a:endParaRPr lang="en-US" sz="2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벤치마크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bench로 올바르게 측정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배열에서 GPU가 느린 이유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'연산만' vs '연산+전송'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벡터화·연산 강도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02 — ndarray와 포팅</a:t>
            </a:r>
            <a:endParaRPr 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2 · 노트북 02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ndarray 핵심 &amp; NumPy→CuPy 포팅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구조·뷰/복사·축·브로드캐스팅·장치 비종속 코드·전송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 4요소·뷰/복사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집계·브로드캐스팅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 비종속(agnostic) 코드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암묵적 전송·디바이스 관리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드롭인·구조(2~6)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뷰·축·브로드캐스팅(7~13)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dispatch·전송·디바이스(14~18)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실습(19~22)</a:t>
            </a:r>
            <a:endParaRPr lang="en-US" sz="2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→ CuPy 드롭인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cupy_speedu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import만 바꾸면 동작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API를 GPU에서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배열일수록 이득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백엔드: CUDA C++</a:t>
            </a:r>
            <a:endParaRPr lang="en-US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ndarray의 구조 (anatomy)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ndarray_anatom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메모리 포인터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dtype: 균일 자료형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차원 크기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strides: 다음 원소까지 바이트</a:t>
            </a:r>
            <a:endParaRPr lang="en-US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ndarray가 빠른가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연속된 고정크기 메모리 블록 (리스트의 포인터 배열과 다름)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균일 dtype → 벡터화·SIMD/SIMT 친화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 메타데이터로 뷰·브로드캐스팅을 메모리 복사 없이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nbytes/ndim/size/shape 로 구조 확인</a:t>
            </a:r>
            <a:endParaRPr lang="en-US" sz="2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논리 ↔ 물리 저장 (strides)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logical_vs_stor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5538" y="1596542"/>
            <a:ext cx="13918997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7228332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다차원 인덱스 → 1차원 메모리. 순서는 strides가 결정(기본 행 우선/C order)</a:t>
            </a:r>
            <a:endParaRPr lang="en-US" sz="2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— 코드로 확인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cp.arange(50_000_000,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a.dtype, a.ndim, a.size, a.shape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a.nbytes / 2**20      # MB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a.reshape(-1,5)   # reshape=뷰(메타데이터만)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M.strides             # 바이트 단위</a:t>
            </a:r>
            <a:endParaRPr lang="en-US" sz="1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뷰(View) vs 복사(Copy)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views_slic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슬라이싱·reshape·.T = 뷰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A+B, A*5 = 새 배열(복사)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.copy()=명시적 복사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연산 많으면 복사 폭증</a:t>
            </a:r>
            <a:endParaRPr lang="en-US" sz="2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뷰/복사 — data.ptr 확인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cp.arange(12,dtype=cp.float32).reshape(3,4)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a[:, :2]; c = a[:, :2].copy()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print(v.data.ptr == a.data.ptr)   # True (공유)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print(c.data.ptr == a.data.ptr)   # False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뷰에 대입하면 원본도 바뀐다(주의/활용)</a:t>
            </a:r>
            <a:endParaRPr lang="en-US" sz="2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축(axis)과 집계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array_functions_axi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→ 열별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→ 행별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keepdims=True → 차원 보존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브로드캐스팅에 유용</a:t>
            </a:r>
            <a:endParaRPr lang="en-US" sz="2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브로드캐스팅: stretch 규칙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모양 간 연산 시 작은 쪽을 '늘림'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호환 규칙: 두 차원이 (1) 같거나 (2) 한쪽이 1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차원은 메모리 복사 없이 논리적 확장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행별 정규화·정규화 등에 필수</a:t>
            </a:r>
            <a:endParaRPr lang="en-US" sz="2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브로드캐스팅 — 성공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broadcasting_o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(3,3)+(3,)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벡터가 3행으로 stretch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추가 없음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(3,3)</a:t>
            </a:r>
            <a:endParaRPr lang="en-US" sz="2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브로드캐스팅 — 실패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broadcasting_er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(3,2)+(3,)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차원 호환 안 됨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ValueError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shape를 (3,1)로 맞추면 OK</a:t>
            </a:r>
            <a:endParaRPr lang="en-US" sz="2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행별 정규화 (브로드캐스팅 활용)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cp.random.random((4,5),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M.sum(axis=1, keepdims=True)   # (4,1)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 = M / row                          # 열 방향 stretch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Mn.sum(axis=1)   # 각 행 합 ~ 1</a:t>
            </a:r>
            <a:endParaRPr lang="en-US" sz="1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장치 비종속 코드 (agnostic)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cp.get_array_module(x) → 입력이 GPU면 cupy, 아니면 numpy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softplus(x):   # log(1+exp(x)) 안정 구현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 = cp.get_array_module(x)   # 'xp' 관용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xp.maximum(0, x) + xp.log1p(xp.exp(-abs(x)))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4420210"/>
            <a:ext cx="14242694" cy="332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CPU/GPU 양쪽에서 같은 코드가 동작 (공식 예제)</a:t>
            </a:r>
            <a:endParaRPr lang="en-US" sz="2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디스패치 (NEP 18)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x_gpu = cp.random.random((3000,1000),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np.linalg.svd(x_gpu, compute_uv=False)   # CuPy로 위임→GPU 실행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단, CuPy가 해당 함수의 오버라이드를 구현한 경우만</a:t>
            </a:r>
            <a:endParaRPr lang="en-US" sz="1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암묵적 전송 주의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막아주는 것: np.asarray(gpu) → TypeError(조용한 복사 방지)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유발하는 것: print/str/f-string, int/float/bool/.item()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NumPy/SciPy 폴백 함수(save/load)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CuPy+NumPy(rank≥1) 연산은 에러 → 명시적 전송 필요</a:t>
            </a:r>
            <a:endParaRPr lang="en-US" sz="2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— 코드로 보기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cp.arange(5)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np.asarray(g)     # TypeError (차단)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cp.asnumpy(g)     # 명시적 전송(OK), 또는 g.get()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float(g.sum())    # 스칼라 변환 = 암묵 전송</a:t>
            </a:r>
            <a:endParaRPr lang="en-US" sz="1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디바이스 관리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print(cp.cuda.Device().id)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cp.cuda.Device(0):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cp.random.random((1000,1000),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print(x.device)   # 연산 입력은 같은 장치에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 시 P2P 시도, 불가하면 ValueError</a:t>
            </a:r>
            <a:endParaRPr lang="en-US" sz="2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 연습 — 열 정규화 &amp; 뷰 수정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열별 Min-Max 정규화 ② 뷰로 원본 수정(복사 금지)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col_minmax(x):  # 열별 (x-min)/(max-min)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zero_block(a):  # a[:2,:2]를 뷰로 0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메인 실습 — transform 포팅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표준화→reshape(-1,5)→행별 절대최댓값 나눗셈(장치 비종속)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 = cp.get_array_module(x)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(x-x.mean())/(x.std()+1e-8); M = z.reshape(-1,5)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 / xp.abs(M).max(axis=1, keepdims=True)</a:t>
            </a:r>
            <a:endParaRPr lang="en-US" sz="1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&amp; 포인트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위 구현 그대로. 검증: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= transform(x_np)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cp.asnumpy(transform(cp.asarray(x_np)))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allclose(ref, out, rtol=1e-4, atol=1e-4)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732581"/>
            <a:ext cx="1424269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get_array_module 하나로 CPU/GPU 지원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host 입력이면 결과 일치(난수는 RNG 달라 불일치)</a:t>
            </a:r>
            <a:endParaRPr lang="en-US" sz="2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메모리 레이아웃 &amp; strides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다차원 배열 = 1차원 연속 메모리 + strides 메타데이터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 주소 offset = Σ (index_k × stride_k) 바이트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order(행 우선): 마지막 축이 연속(stride=itemsize)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reshape·전치·슬라이싱 = strides만 변경 → O(1) 뷰(복사 0)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연속성(contiguity)이 coalescing·성능에 직결</a:t>
            </a:r>
            <a:endParaRPr lang="en-US" sz="2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ndarray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data·dtype·shape·strides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 vs 복사(data.ptr)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axis·keepdims·브로드캐스팅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get_array_module 비종속 코드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03 — NumPy 루틴</a:t>
            </a:r>
            <a:endParaRPr lang="en-US" sz="2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2 · 노트북 03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루틴 (cupy.*·linalg·fft·random)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함수·선형대수/PCA·FFT/2D 디노이즈·난수/몬테카를로·fuse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4갈래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cupy.* 모듈 함수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linalg(PCA)·fft(2D)·random(MC)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허용오차·검증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@cupy.fuse 커널 융합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루틴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함수 cupy.*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선형대수 cupy.linalg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cupy.fft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난수 cupy.random</a:t>
            </a:r>
            <a:endParaRPr lang="en-US" sz="2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 루틴 투어 cupy.*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집계: sum·mean·std·var·median·percentile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정렬·탐색: sort·argsort·argpartition·searchsorted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누적·집합: cumsum·cumprod·unique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선택·논리: where·clip·all·any·nonzero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numpy.* 와 같은 이름·시그니처</a:t>
            </a:r>
            <a:endParaRPr lang="en-US" sz="2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 함수 — 코드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x.mean(), cp.median(x), cp.percentile(x,90)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cp.sort(x), cp.argsort(x), cp.searchsorted(cp.sort(x), 0.5)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cp.clip(x,0.2,0.8), cp.where(x&gt;0.5, 1.0, 0.0)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cp.cumsum(x), cp.unique(cp.asarray([3,1,2,3]))</a:t>
            </a:r>
            <a:endParaRPr lang="en-US" sz="1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Top-k &amp; 이동평균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가장 큰 k개(내림차순) ② cumsum으로 이동평균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topk(x,k): ...   # xp.sort(x)[-k:][::-1]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moving_avg(x,w): ...  # cumsum 트릭 O(N)</a:t>
            </a:r>
            <a:endParaRPr lang="en-US" sz="1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솔루션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topk(x,k):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xp=cp.get_array_module(x); return xp.sort(x)[-k:][::-1]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moving_avg(x,w):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c=cp.cumsum(x)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(c[w-1:]-cp.concatenate([cp.zeros(1,x.dtype),c[:-w]]))/w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096512"/>
            <a:ext cx="14242694" cy="3649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대용량은 argpartition으로 부분선택</a:t>
            </a:r>
            <a:endParaRPr lang="en-US" sz="2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선형대수 cupy.linalg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solve·lstsq·inv·pinv·det·norm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분해: svd·qr·cholesky·eig·eigh·eigvalsh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matmul/@ — 배치(스택) 지원, GPU 강점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cuSOLVER/cuBLAS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float32는 allclose(rtol↑)로 검증</a:t>
            </a:r>
            <a:endParaRPr lang="en-US" sz="2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· svd · 배치 matmul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cp.linalg.solve(A, b)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cp.linalg.svd(A, compute_uv=False)   # 특이값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cp.random.random((64,256,256),dtype='f4')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cp.matmul(A, A)   # 배치 (64,256,256)</a:t>
            </a:r>
            <a:endParaRPr lang="en-US" sz="1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미니앱 — PCA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공분산 고유분해(eigh)로 주성분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pca(X, k):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Xc = X - X.mean(0, keepdims=True)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Cov = (Xc.T @ Xc)/(len(X)-1)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w, V = cp.linalg.eigh(Cov)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cp.argsort(w)[::-1][:k]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Xc @ V[:, idx], w[idx]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5512918"/>
            <a:ext cx="14242694" cy="223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고유벡터 부호 모호 → 고유값으로 검증</a:t>
            </a:r>
            <a:endParaRPr lang="en-US" sz="2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cupy.fft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fft/ifft·rfft/irfft·fft2/ifft2·fftn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보조: fftfreq·rfftfreq·fftshift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신호엔 rfft/irfft가 효율적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 구동 · plan 캐시 사용(메모리 차지 가능)</a:t>
            </a:r>
            <a:endParaRPr lang="en-US" sz="2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미니앱 — 2D 주파수 디노이즈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lowpass2d(img, r):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cp.fft.fftshift(cp.fft.fft2(img))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cy,cx = [s//2 for s in img.shape]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cp.zeros_like(img); m[cy-r:cy+r, cx-r:cx+r]=1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cp.real(cp.fft.ifft2(cp.fft.ifftshift(F*m)))</a:t>
            </a:r>
            <a:endParaRPr lang="en-US" sz="1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난수 cupy.random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권장: Generator API  cp.random.default_rng()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메서드: standard_normal·normal·integers·uniform·choice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cuRAND 구동(기본 XORWOW)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시드/버전/디바이스면 재현 — NumPy와는 불일치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인자 지원(float32 직접 생성)</a:t>
            </a:r>
            <a:endParaRPr lang="en-US" sz="27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미니앱 — 몬테카를로 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mc_pi(n, seed=0):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rng = cp.random.default_rng(seed)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x=rng.random(n,dtype='f4'); y=rng.random(n,dtype='f4')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float(4*((x*x+y*y)&lt;=1).sum()/n)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N↑ → 오차 ~ 1/sqrt(N)</a:t>
            </a:r>
            <a:endParaRPr lang="en-US" sz="1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커널 퓨전 @cupy.fuse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원소/리덕션 연산을 하나의 커널로 융합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중간배열(temporary)·커널 런치 감소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호출에 dtype/ndim 기준 컴파일·캐시 → 재사용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elementwise/reduction에 적용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커널 작성의 예고편</a:t>
            </a:r>
            <a:endParaRPr lang="en-US" sz="27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— 코드 &amp; 측정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@cp.fuse()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f(a,b,c): return cp.sqrt(a*a+b*b)+cp.log1p(c)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= f(a,b,c)   # 워밍업(첫 호출 컴파일)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print_bench(bench(lambda: f(a,b,c)))   # plain 대비 비교</a:t>
            </a:r>
            <a:endParaRPr lang="en-US" sz="1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함수 융합 / lstsq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(tanh(x)+1)*exp(-y²)를 @cp.fuse로 ② 과결정계 lstsq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@cp.fuse()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f_fused(x,y): return (cp.tanh(x)+1.0)*cp.exp(-y*y)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solve_lstsq(A,b):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cp.get_array_module(A).linalg.lstsq(A,b,rcond=None)[0]</a:t>
            </a:r>
            <a:endParaRPr lang="en-US" sz="1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— 1D 컨볼루션 (장치 비종속)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fftconv(x, h):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 = cp.get_array_module(x); n = x.size + h.size - 1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xp.fft.irfft(xp.fft.rfft(x,n)*xp.fft.rfft(h,n), 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allclose(fftconv(x_np,h_np), fftconv(cp.asarray(x_np),cp.asarray(h_np)), rtol=2e-3)</a:t>
            </a:r>
            <a:endParaRPr lang="en-US" sz="1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난수 재현성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cp.random.default_rng(1).standard_normal(4, 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cp.random.default_rng(1).standard_normal(4, 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print(bool((a==b).all()))   # 같은 시드/버전/디바이스 → 재현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단, NumPy와는 수열이 다름</a:t>
            </a:r>
            <a:endParaRPr lang="en-US" sz="1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정확성 검증 원칙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대신 allclose (부동소수)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float32는 bit 단위로 다를 수 있음 → rtol/atol↑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입력을 CPU/GPU에 넣어 비교(난수 직접 생성 금지)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course_utils.allclose 는 cupy→numpy 자동 변환</a:t>
            </a:r>
            <a:endParaRPr lang="en-US" sz="27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DFT와 FFT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DFT: X_k = Σ x_n · e^(−2πikn/N) — 신호를 주파수 성분으로 분해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계산 O(N²) → FFT 분할정복 O(N log N)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신호는 켤레대칭 → rfft가 절반만 계산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컨볼루션 정리: 시간영역 컨볼루션 = 주파수영역 곱셈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cuFFT가 GPU에서 병렬 실행(plan 캐시)</a:t>
            </a:r>
            <a:endParaRPr lang="en-US" sz="27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선형대수 분해 &amp; PCA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LU 분해 후 전·후진대입, 밀집 O(n³)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SVD: A = U Σ Vᵀ — 특이값=에너지, 저차원 근사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eigh: 대칭/에르미트 → 실수 고유값·직교 고유벡터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공분산행렬의 고유분해(eigh): 큰 고유값 축=주성분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고유벡터 부호 모호 → 고유값/재구성오차로 검증</a:t>
            </a:r>
            <a:endParaRPr lang="en-US" sz="27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난수 &amp; 몬테카를로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PRNG: 시드로 결정되는 재현 가능한 의사난수(XORWOW 등)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몬테카를로: 무작위 표본으로 적분/확률 추정(예: 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표준오차 ~ 1/√N — 정확도 10배엔 표본 100배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난수 생성이 GPU(cuRAND)의 강점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시드·버전·디바이스면 재현 / NumPy와는 불일치</a:t>
            </a:r>
            <a:endParaRPr lang="en-US" sz="27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NumPy 루틴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cupy.* 모듈 함수(집계/정렬/탐색)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linalg(solve/svd/eigh)·PCA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fft(rfft/fft2)·2D 디노이즈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random·몬테카를로·@cupy.fuse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04 — SciPy 루틴</a:t>
            </a:r>
            <a:endParaRPr lang="en-US" sz="2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2 · 노트북 04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 루틴 (cupyx.scipy.*)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fft·linalg·ndimage·sparse·sparse.linalg·signal·special/stats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scipy.* → cupyx.scipy.* 치환으로 GPU 실행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FFT·고급 선형대수·이미지(ndimage)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희소행렬·희소 선형대수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신호처리·특수함수·통계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백엔드: cuFFT·cuSOLVER·cuSPARSE</a:t>
            </a:r>
            <a:endParaRPr lang="en-US" sz="27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scipy.fft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fft/rfft 외 dct/idct·dst·fht 제공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next_fast_len: FFT에 유리한 길이 추천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cupy.fft(NumPy식)와 별개의 SciPy식 인터페이스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 구동·plan 캐시</a:t>
            </a:r>
            <a:endParaRPr lang="en-US" sz="27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미니앱 — DCT 압축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cupyx.scipy.fft import dct, idct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dct_compress(x, keep):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dct(x, norm='ortho'); X[keep:]=0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idct(X, norm='ortho')   # 상위 계수만 유지=손실압축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keep↑→오차↓·압축↓ / 에너지가 저주파에 몰릴수록 효과적</a:t>
            </a:r>
            <a:endParaRPr lang="en-US" sz="2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선형대수 scipy.linalg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 재사용: lu_factor/lu_solve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solve_triangular·expm(행렬지수)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행렬: toeplitz·circulant·block_diag·kron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cupy.linalg(NumPy식)보다 분해 루틴이 풍부</a:t>
            </a:r>
            <a:endParaRPr lang="en-US" sz="27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lu_solve · expm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cupyx.scipy.linalg import lu_factor, lu_solve, expm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lu,piv = lu_factor(A)        # 한 번 분해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lu_solve((lu,piv), b)    # 여러 b 재사용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expm(M)                  # 행렬 지수</a:t>
            </a:r>
            <a:endParaRPr lang="en-US" sz="1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처리 ndimage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필터: gaussian_filter·sobel·median_filter·uniform_filter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변환: rotate·zoom·shift·affine_transform·map_coordinates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측정/형태학: label·center_of_mass·binary_*·distance_transform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이미지/볼륨에 GPU 강점</a:t>
            </a:r>
            <a:endParaRPr lang="en-US" sz="2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미니앱 — 연결요소 라벨링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cupyx.scipy.ndimage as ndi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ndi.gaussian_filter(image, sigma=2)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lab, num = ndi.label(g &gt; 0.5)   # 연결요소 개수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연습: gaussian→sobel 그래디언트 크기(CPU 검증)</a:t>
            </a:r>
            <a:endParaRPr lang="en-US" sz="1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그래디언트 크기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grad_magnitude(img):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 = cp.get_array_module(img)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ndi = cpnd if xp is cp else spnd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ndi.gaussian_filter(img, sigma=2)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gx,gy = ndi.sobel(g,axis=0), ndi.sobel(g,axis=1)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xp.sqrt(gx*gx+gy*gy)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460443"/>
            <a:ext cx="14242694" cy="328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ndimage 함수는 scipy/cupyx 동일 이름</a:t>
            </a:r>
            <a:endParaRPr lang="en-US" sz="2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희소행렬 포맷</a:t>
            </a:r>
            <a:endParaRPr lang="en-US" sz="3000" dirty="0"/>
          </a:p>
        </p:txBody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5" cy="4046220"/>
        </p:xfrm>
        <a:graphic>
          <a:graphicData uri="http://schemas.openxmlformats.org/drawingml/2006/table">
            <a:tbl>
              <a:tblPr/>
              <a:tblGrid>
                <a:gridCol w="3236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8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포맷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클래스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압축 행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csr_matrix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SpMV 효율적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좌표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coo_matrix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 편리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압축 열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csc_matrix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 연산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대각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dia_matrix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대각 위주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53689" y="6856171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생성: eye·identity·diags·kron · cuSPARSE 구동</a:t>
            </a:r>
            <a:endParaRPr lang="en-US" sz="2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내부구조 &amp; 2D 라플라시안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cps.coo_matrix((vals,(rows,cols)),shape=(3,3)).tocsr()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A.data; A.indices; A.indptr   # 세 배열로 저장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laplacian_2d(S,n):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I=S.identity(n,format='csr'); T=S.diags([-1,2,-1],[-1,0,1],(n,n))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(S.kron(I,T)+S.kron(T,I)).tocsr()</a:t>
            </a:r>
            <a:endParaRPr lang="en-US" sz="1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희소 선형대수 sparse.linalg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반복법: cg·gmres·minres·lsqr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직접법: spsolve·splu·factorized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고유값/특이값: eigsh·lobpcg·svds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기타: norm·LinearOperator</a:t>
            </a:r>
            <a:endParaRPr lang="en-US" sz="27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푸아송 — 직접 vs 반복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cupyx.scipy.sparse.linalg import cg, spsolve, eigsh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x_cg,info = cg(A, b, rtol=1e-6)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x_dir = spsolve(A.tocsr(), b)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 = eigsh(A, k=3, which='LM', return_eigenvectors=False)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라플라시안 SPD → CG 적합</a:t>
            </a:r>
            <a:endParaRPr lang="en-US" sz="24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신호처리 signal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cupyx.scipy.signal import fftconvolve, butter, filtfilt, spectrogram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fftconvolve(sig, ker, mode='same')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b,a = butter(4, 0.05); y = filtfilt(b,a,sig)   # 무위상 저역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f,t,Sxx = spectrogram(sig, fs=20000)</a:t>
            </a:r>
            <a:endParaRPr lang="en-US" sz="1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· stats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cupyx.scipy.special import softmax, logsumexp, expit, erf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cupyx.scipy.stats import zscore, trim_mean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my_softmax(x): return cp.exp(x - logsumexp(x))  # 수치안정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449117"/>
            <a:ext cx="14242694" cy="429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stats는 함수 소수(zscore/trim_mean/entropy 등)</a:t>
            </a:r>
            <a:endParaRPr lang="en-US" sz="2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1D 라플라시안+CG · 필터 · softmax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diags 1D 라플라시안+cg / butter+filtfilt CPU 일치 / 안정 softmax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laplacian_1d(n):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cps.diags([-1.,2.,-1.],[-1,0,1],shape=(n,n),format='csr',dtype='f4')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sol,info = cg(laplacian_1d(5000), b, rtol=1e-5)</a:t>
            </a:r>
            <a:endParaRPr lang="en-US" sz="1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1D 라플라시안 + CG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laplacian_1d(n):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cps.diags([-1.,2.,-1.],[-1,0,1],shape=(n,n),format='csr',dtype='f4')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sol,info = cg(laplacian_1d(5000), b, rtol=1e-5)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 = float(cp.linalg.norm(A@sol-b)/cp.linalg.norm(b))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732581"/>
            <a:ext cx="1424269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→ CG 수렴</a:t>
            </a:r>
            <a:endParaRPr lang="en-US" sz="24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신호 저역통과 필터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cupyx.scipy.signal import butter, filtfilt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lowpass(sig):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b,a = butter(4, 0.05); return filtfilt(b,a,sig)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CPU(scipy.signal)와 allclose 검증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732581"/>
            <a:ext cx="1424269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filtfilt = 무위상(zero-phase) 필터링</a:t>
            </a:r>
            <a:endParaRPr lang="en-US" sz="24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수치 안정 softmax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cupyx.scipy.special import softmax, logsumexp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my_softmax(x):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cp.exp(x - logsumexp(x))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special.softmax 와 allclose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732581"/>
            <a:ext cx="1424269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logsumexp로 지수 오버플로 방지</a:t>
            </a:r>
            <a:endParaRPr lang="en-US" sz="2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DCT &amp; 에너지 압축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DCT: 실수 코사인 기저로 신호를 분해(실수→실수)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자연신호는 에너지가 저주파 계수에 집중(energy compaction)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계수만 남기고 나머지 0 → 손실 압축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JPEG·MP3 등 코덱의 핵심 변환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norm='ortho'로 에너지 보존(Parseval)</a:t>
            </a:r>
            <a:endParaRPr lang="en-US" sz="27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CSR 희소행렬 저장구조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배열로 저장: data(값)·indices(열)·indptr(행 경계)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i 원소 = data[indptr[i] : indptr[i+1]]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O(nnz) — 0이 암도적인 행렬에 유리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SpMV(희소행렬×벡터)에 효율적 → cuSPARSE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편한 COO로 만들어 .tocsr()로 변환</a:t>
            </a:r>
            <a:endParaRPr lang="en-US" sz="27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컨볼루션 &amp; 이미지 필터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선형필터 = 이웃 화소의 가중합(커널과의 컨볼루션)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gaussian_filter: 평활(저주파 통과) / sobel: 그래디언트(엣지)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분리가능 커널(가우시안)은 1D×2로 연산 절감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임계화 후 연결요소(connected component) 식별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이미지/볼륨에 GPU 강점</a:t>
            </a:r>
            <a:endParaRPr lang="en-US" sz="27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이론 — 직접법 vs 반복법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직접법(spsolve/splu): LU 분해 — 정확하나 fill-in으로 메모리 증가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반복법(cg): 행렬×벡터만 반복 — 메모리 적음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CG는 대칭·양정치(SPD) 행렬에만 적용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속도는 조건수에 좌우(전처리기로 개선)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라플라시안(푸아송)은 SPD → CG 적합</a:t>
            </a:r>
            <a:endParaRPr lang="en-US" sz="27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SciPy 루틴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scipy.*→cupyx.scipy.* 치환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fft(DCT)·linalg(lu/expm)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ndimage 연결요소·sparse 2D 푸아송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signal·special·stats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단원 2 완료 / 다음: 05</a:t>
            </a:r>
            <a:endParaRPr lang="en-US" sz="2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3 · 노트북 05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관리 &amp; 성능측정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메모리풀(device/pinned)·out=·전송·CUB·프로파일링·Power Iteration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host/device·GPU 생성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암묵적 전송 식별·회피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메모리풀·out= temporary↓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benchmark/time_range/profile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공간·전송(2~3)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메모리풀(4~7)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out=·병목·도구(8~13)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실습·Power Iteration(14~17)</a:t>
            </a:r>
            <a:endParaRPr lang="en-US" sz="25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host/device 메모리 공간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host_device_transf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메모리 공간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asarray(H→D)/asnumpy(D→H)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전송보다 GPU 생성이 싸다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cp.random.* 로 직접 생성</a:t>
            </a:r>
            <a:endParaRPr lang="en-US" sz="2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암묵적 전송 주의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implicit_transf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print/str/f-string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int/float/.item()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폴백(save/load)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CuPy+NumPy=에러</a:t>
            </a:r>
            <a:endParaRPr lang="en-US" sz="24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메모리풀이란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CuPy는 기본적으로 메모리풀로 할당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cudaMalloc/Free 하지 않아 오버헤드·동기화 감소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종류: device pool(GPU) · pinned pool(전송용 CPU)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해제한 배열 메모리는 풀에 '캐시'되어 재사용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nvidia-smi에 메모리가 안 줄어 보이는 건 정상</a:t>
            </a:r>
            <a:endParaRPr lang="en-US" sz="27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메모리풀 관찰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 = cp.get_default_memory_pool()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cp.random.random((4096,4096),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mp.used_bytes()    # 사용 중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mp.total_bytes()   # 풀 보유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a; mp.used_bytes()        # 0 (풀엔 남음)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mp.free_all_blocks()          # 미사용 블록 OS 반환</a:t>
            </a:r>
            <a:endParaRPr lang="en-US" sz="1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한도 &amp; 커스텀 할당자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한도: CUPY_GPU_MEMORY_LIMIT='50%' 또는 바이트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mp.set_limit(size=1024**3) (디바이스별)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set_allocator로 교체 가능: managed(malloc_managed)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pool(malloc_async, CUDA 11.2+, 실험적)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컨텍스트·라이브러리 핸들 메모리는 한도에 미포함</a:t>
            </a:r>
            <a:endParaRPr lang="en-US" sz="27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memory &amp; FFT plan 캐시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pinned(page-locked) host 메모리 → 빠른·비동기 전송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고수준: cupyx.empty_pinned/zeros_pinned (NumPy 배열 반환)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후 pinned는 풀로 반환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FFT를 쓰면 plan 캐시가 device 메모리를 일부 사용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축소/비활성으로 회수 가능</a:t>
            </a:r>
            <a:endParaRPr lang="en-US" sz="27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임시버퍼 줄이기 — out=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식은 중간배열(temporary)이 여러 개 생김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slow(a): return cp.sqrt(cp.sin(a)**2 + cp.cos(a)**2)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fast(a,b,c,d):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cp.sin(a,out=b); cp.cos(a,out=c)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cp.multiply(b,b,out=d); d+=c*c; cp.sqrt(d,out=d); return 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4784141"/>
            <a:ext cx="14242694" cy="296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재사용으로 할당·대역폭 절감 (또는 @cupy.fuse)</a:t>
            </a:r>
            <a:endParaRPr lang="en-US" sz="2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병목 비교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heavy(x,steps=20):   # 매 스텝 host 전송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range(steps): acc += float((cp.sin(x)+1).sum())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light(x,steps=20):   # GPU 누적, 마지막 1회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acc=cp.zeros((),'f8')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range(steps): acc += (cp.sin(x)+1).sum()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float(acc)</a:t>
            </a:r>
            <a:endParaRPr lang="en-US" sz="1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프로파일링 도구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cupyx.profiler.benchmark — 워밍업·동기화·반복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cupyx.profiler.time_range — NVTX 구간 라벨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cupyx.profiler.profile — 캡처 구간 on/off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Nsight Systems(nsys)로 타임라인 확인</a:t>
            </a:r>
            <a:endParaRPr lang="en-US" sz="27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튜닝 절차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측정: benchmark/time_range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가설: 전송? temporary? 동기화?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수정: GPU 생성·out=·전송 묶기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재측정으로 효과 확인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 말고 항상 측정</a:t>
            </a:r>
            <a:endParaRPr lang="en-US" sz="27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 / cuTENSOR — 공짜 가속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리덕션(sum/min/max/cumsum…) 가속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 CUPY_ACCELERATORS=cub,cutensor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v11+ 는 기본 CUB 사용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시작 전 설정 · 효과는 벤치로 확인</a:t>
            </a:r>
            <a:endParaRPr lang="en-US" sz="27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— 파이프라인 2배 개선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생성·temporary·전송 3가지를 고쳐 pipeline_fast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pipeline_slow(N,steps):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a=cp.asarray(np.random.random(N).astype('f4'))  # host 생성+전송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range(steps):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b=cp.sin(a);c=cp.cos(a);d=b*b+c*c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total+=float(cp.sqrt(d).sum())   # 매 스텝 전송</a:t>
            </a:r>
            <a:endParaRPr lang="en-US" sz="1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343082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3010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pipeline_fast(N,steps):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a=cp.random.random(N,dtype='f4')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b=cp.empty_like(a);c=cp.empty_like(a);d=cp.empty_like(a)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total=cp.zeros((),'f8')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range(steps):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cp.sin(a,out=b);cp.cos(a,out=c);cp.multiply(b,b,out=d)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d+=c*c;cp.sqrt(d,out=d); total+=d.sum()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float(total)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5189220"/>
            <a:ext cx="14242694" cy="2557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개선 합쳐 보통 2배+</a:t>
            </a:r>
            <a:endParaRPr lang="en-US" sz="24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— Power Iteration (메모리 적용)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고유값: y=Ax→정규화 반복. A를 GPU 생성, 반복 중 전송 X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power_iteration(xp, A, iters=300):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xp.ones(A.shape[0], dtype=A.dtype)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range(iters):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A @ x; x = y / xp.linalg.norm(y)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float((x@(A@x))/(x@x))   # 마지막 1회 전송</a:t>
            </a:r>
            <a:endParaRPr lang="en-US" sz="1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메모리풀 요약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pool: GPU 메모리 할당(기본)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pool: CPU↔GPU 전송용 page-locked 메모리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해제 메모리는 풀에 캐시 → 재사용(빠름)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used_bytes/total_bytes/free_all_blocks 로 관리</a:t>
            </a:r>
            <a:endParaRPr lang="en-US" sz="27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한도 설정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환경변수: export CUPY_GPU_MEMORY_LIMIT='50%'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 = cp.get_default_memory_pool()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mp.set_limit(size=1024**3)   # 디바이스별 1 GiB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컨텍스트/핸들 메모리는 한도에 미포함</a:t>
            </a:r>
            <a:endParaRPr lang="en-US" sz="1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&amp; 비동기 전송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cupyx.zeros_pinned(n, dtype=cp.float32)  # pinned host 배열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cp.cuda.Stream(non_blocking=True):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cp.asarray(h, blocking=False)        # 겹칠 수 있는 전송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고수준: empty_pinned/zeros_pinned</a:t>
            </a:r>
            <a:endParaRPr lang="en-US" sz="19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GPU 메모리 계층 &amp; coalescing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레지스터 → L1/공유 → L2 → 전역(HBM): 위로 갈수록 빠르고 작음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접근은 캐시라인 128B(=32×float) / 32B 섹터 단위 트랜잭션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32스레드가 인접·정렬 주소 → 한 트랜잭션(coalesced)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cudaMalloc은 256B 정렬 보장 → 정렬 유리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접근 → 트랜잭션 폭증 → 유효 대역폭↓</a:t>
            </a:r>
            <a:endParaRPr lang="en-US" sz="27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메모리·성능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host/device·GPU 생성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메모리풀(device/pinned)·캐싱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out=로 temporary↓·전송 최소화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benchmark/time_range/profile·CUB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06 — 스트림·비동기</a:t>
            </a:r>
            <a:endParaRPr lang="en-US" sz="2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단원 4 · 노트북 06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스트림과 비동기 처리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스트림·이벤트·이중버퍼 오버랩·스케일링·CUDA Graph·멀티GPU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스트림·오버랩·이벤트 동기화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버퍼 전송-연산 겹침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측정·스케일링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(심화) CUDA Graph·멀티GPU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스트림·이벤트(2~5)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전송(6)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오버랩 파이프라인(7~11)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NVTX·Graph·멀티GPU(12~15)</a:t>
            </a:r>
            <a:endParaRPr lang="en-US" sz="25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stream 복습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CUDA 작업(전송·커널)은 현재 스트림에 큐잉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스트림=순서대로, host에 대해선 비동기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기본=null(legacy) 스트림, per-thread·per-device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cp.cuda.get_current_stream() 로 조회</a:t>
            </a:r>
            <a:endParaRPr lang="en-US" sz="27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스트림이란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stream_concep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순서대로 실행되는 작업 사슬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스트림끼리는 겹침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Stream(non_blocking=True)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블록으로 사용</a:t>
            </a:r>
            <a:endParaRPr lang="en-US" sz="24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 &amp; 이벤트 측정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cp.cuda.Stream(non_blocking=True)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(cp.sin(a)+1).sum()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st=cp.cuda.Event(); ed=cp.cuda.Event()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st.record(); y=(cp.sin(a)+1).sum(); ed.record(); ed.synchronize()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cp.cuda.get_elapsed_time(st, ed)   # ms</a:t>
            </a:r>
            <a:endParaRPr lang="en-US" sz="19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다중 스트림 + 이벤트</a:t>
            </a:r>
            <a:endParaRPr lang="en-US" sz="3000" dirty="0"/>
          </a:p>
        </p:txBody>
      </p:sp>
      <p:pic>
        <p:nvPicPr>
          <p:cNvPr id="5" name="Image 0" descr="/sessions/zealous-vigilant-rubin/mnt/cupy_exercise/images/figures/new_streams_even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3222" y="1596542"/>
            <a:ext cx="9225382" cy="534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22301" y="1919326"/>
            <a:ext cx="5017313" cy="50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작업은 겹침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의존성은 이벤트로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/ wait_event</a:t>
            </a:r>
            <a:endParaRPr lang="en-US" sz="24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 간·호스트 동기화</a:t>
            </a:r>
            <a:endParaRPr lang="en-US" sz="24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비동기 전송 &amp; pinned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13+: cp.asarray(x, blocking=False)/asnumpy(..., blocking=False)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pinned = cp.cuda.alloc_pinned_memory(n*4)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np.frombuffer(pinned, dtype=np.float32, count=n)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cp.asarray(h, blocking=False)   # 겹칠 수 있는 전송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(d*2+1).sum()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s.synchronize()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453689" y="5512918"/>
            <a:ext cx="14242694" cy="223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고수준: cupyx.empty_pinned 도 가능</a:t>
            </a:r>
            <a:endParaRPr lang="en-US" sz="24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이중 버퍼 청크 오버랩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데이터를 청크로 나눠 여러 스트림에 분산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청크 전송 ↔ 다른 청크 연산이 겹침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기준선 대비 시간 단축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처리는 독립 → 오버랩 적합</a:t>
            </a:r>
            <a:endParaRPr lang="en-US" sz="27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순차 기준선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sequential():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out=np.empty(N,np.float32)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s0 in range(0,N,CH):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d=cp.asarray(H[s0:s0+CH])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out[s0:s0+CH]=cp.asnumpy(work(d))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9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— 이중 버퍼 직접 구현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청크를 nstreams개 스트림에 분산해 전송-연산 겹치기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chunked(nstreams=3):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streams 생성; 각 청크를 streams[i%n]에서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asarray(blocking=False)-&gt;work-&gt;asnumpy(blocking=False)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모든 스트림 synchronize 후 반환</a:t>
            </a:r>
            <a:endParaRPr lang="en-US" sz="19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chunked(nstreams=3):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streams=[cp.cuda.Stream(non_blocking=True) for _ in range(nstreams)]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i,s0 in enumerate(range(0,N,CH)):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streams[i%nstreams]: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d=cp.asarray(H[s0:s0+CH], blocking=False)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out[s0:s0+CH]=cp.asnumpy(work(d), blocking=False)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 in streams: st.synchronize()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4825289"/>
            <a:ext cx="14242694" cy="2921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2~3 스트림에서 이득 포화</a:t>
            </a:r>
            <a:endParaRPr lang="en-US" sz="24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이벤트 세분 타이밍 &amp; 스케일링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e0,e1,e2=[cp.cuda.Event() for _ in range(3)]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e0.record(); d=cp.asarray(H[:CH]); e1.record()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r=work(d).sum(); e2.record(); e2.synchronize()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transfer=elapsed(e0,e1), compute=elapsed(e1,e2)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[1,2,4,8]: bench(lambda: run_streams(k))</a:t>
            </a:r>
            <a:endParaRPr lang="en-US" sz="19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NVTX 연계 + Power Iteration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cupyx.profiler import time_range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time_range('pi', color_id=0):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power_iter_sync(A, check_every=1)    # 매 스텝 sync=느림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power_iter_sync(A, check_every=50)   # 드문 sync=빠름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잦은 host 동기화는 GPU를 놀게 함</a:t>
            </a:r>
            <a:endParaRPr lang="en-US" sz="24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(심화) 비동기 메모리·스트림 의미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 순서 의미(stream semantics)를 사용자가 지킴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MemoryAsyncPool(malloc_async): 스트림 순서 비동기 할당(실험적)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동기화는 경쟁·오류 → Event/Stream로 명시</a:t>
            </a:r>
            <a:endParaRPr lang="en-US" sz="27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(심화) CUDA Graph 캡처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시퀀스를 그래프로 캡처 → 런치 오버헤드↓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s.begin_capture()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range(50): cp.add(x,1.0,out=x)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s.end_capture()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g.launch()   # 캡처 중 host 동기 전송 금지</a:t>
            </a:r>
            <a:endParaRPr lang="en-US" sz="19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(심화) 멀티-GPU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ngpu = cp.cuda.runtime.getDeviceCount()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cp.cuda.Device(0): a0 = cp.random.random(N)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cp.cuda.Device(1): a1 = cp.random.random(N)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연산 입력은 같은 장치 (P2P 가능 시 직접 접근)</a:t>
            </a:r>
            <a:endParaRPr lang="en-US" sz="1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다중 스트림 결합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s1=cp.cuda.Stream(non_blocking=True); s2=cp.cuda.Stream(non_blocking=True)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s1: y1=(cp.sin(a1)+1).sum()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s2: y2=(cp.cos(a2)+1).sum()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s1.synchronize(); s2.synchronize()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print(float(y1+y2))</a:t>
            </a:r>
            <a:endParaRPr lang="en-US" sz="19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Graph — 측정 비교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many(): 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range(50): cp.add(x,1.0,out=x)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print_bench(bench(many, name='반복 런치'))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print_bench(bench(lambda: g.launch(), name='CUDA Graph'))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53689" y="3813048"/>
            <a:ext cx="14242694" cy="3932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커널 다수일 때 런치 오버헤드 절감</a:t>
            </a:r>
            <a:endParaRPr lang="en-US" sz="2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 활용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오버랩 이득은 전송과 연산을 겹칠 때 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커널이 GPU를 채우면 효과 작음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빈도를 줄여 GPU idle 방지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타임라인(nsys)으로 확인</a:t>
            </a:r>
            <a:endParaRPr lang="en-US" sz="27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비동기 실행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host는 작업을 스트림 큐에 넣고 즉시 반환(비동기)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스트림=순서 실행, 다른 스트림=동시 실행 가능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 엔진(copy)과 연산 엔진(SM)은 별개 → 겹칠 수 있음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이벤트로 스트림 간 순서·완료 표현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버퍼로 전송을 연산 뒤에 '숨김'(overlap)</a:t>
            </a:r>
            <a:endParaRPr lang="en-US" sz="27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스트림·비동기 + Day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 오버랩·이벤트 동기화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버퍼로 전송-연산 겹침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스케일링·동기화 빈도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(심화) CUDA Graph·멀티GPU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day1_capstone → Day 2</a:t>
            </a:r>
            <a:endParaRPr lang="en-US" sz="28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5 · 노트북 07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커널 개념 &amp; CuPy 고수준 커널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실행모델·인덱싱·SIMT·메모리·coalescing·atomic·occupancy + Elementwise/Reduction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실행 모델·SIMT/warp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계층·coalescing·atomic·occupancy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개념이 07~11에서 어떻게 구현되는지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Elementwise/Reduction 커널 작성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커널 개념(2~10)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CuPy 커널(11~21)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매핑표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연습</a:t>
            </a:r>
            <a:endParaRPr lang="en-US" sz="25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커널과 실행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= GPU에서 수천 스레드로 동시 실행되는 함수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host가 `kernel[그리드,블록](인자)`로 런치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스레드는 자기 인덱스로 데이터 선택(SPMD)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런치는 비동기(Day 1과 동일)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CuPy 자동 생성 → Day 2: 직접 작성</a:t>
            </a:r>
            <a:endParaRPr lang="en-US" sz="27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스레드 계층</a:t>
            </a:r>
            <a:endParaRPr lang="en-US" sz="3000" dirty="0"/>
          </a:p>
        </p:txBody>
      </p:sp>
      <p:graphicFrame>
        <p:nvGraphicFramePr>
          <p:cNvPr id="1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5" cy="3236976"/>
        </p:xfrm>
        <a:graphic>
          <a:graphicData uri="http://schemas.openxmlformats.org/drawingml/2006/table">
            <a:tbl>
              <a:tblPr/>
              <a:tblGrid>
                <a:gridCol w="356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5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계층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 자원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단위(원소 1개)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레지스터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스레드 묶음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 메모리·syncthreads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 묶음(전체)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전역 메모리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전역 인덱스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스레드가 처리할 원소 = 전역 인덱스로 계산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= blockIdx.x * blockDim.x + threadIdx.x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threadIdx.x: 블록 내 위치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blockIdx.x : 블록 번호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blockDim.x : 블록당 스레드 수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Numba:  i = cuda.grid(1)   (위 식을 대신 계산)</a:t>
            </a:r>
            <a:endParaRPr lang="en-US" sz="19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SIMT &amp; warp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= 32 스레드, 같은 명령을 lockstep 실행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분기(divergence) → 경로별 직렬화로 저하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warp로 메모리 지연을 겹쳐 숨김(latency hiding)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균일 연산·연속 접근이 유리</a:t>
            </a:r>
            <a:endParaRPr lang="en-US" sz="27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계층</a:t>
            </a:r>
            <a:endParaRPr lang="en-US" sz="3000" dirty="0"/>
          </a:p>
        </p:txBody>
      </p:sp>
      <p:graphicFrame>
        <p:nvGraphicFramePr>
          <p:cNvPr id="1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5" cy="4046220"/>
        </p:xfrm>
        <a:graphic>
          <a:graphicData uri="http://schemas.openxmlformats.org/drawingml/2006/table">
            <a:tbl>
              <a:tblPr/>
              <a:tblGrid>
                <a:gridCol w="356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5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범위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속도/용도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레지스터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스레드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빠름 · 지역변수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공유(shared)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온칩 매우 빠름 · 협력/재사용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전역(global)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느림 · 입출력 배열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상수/텍스처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전체(읽기)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캐시됨 · 읽기전용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53689" y="6856171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전략: 전역 접근↓, 자주 쓰는 데이터는 공유/레지스터로(09)</a:t>
            </a:r>
            <a:endParaRPr lang="en-US" sz="23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접근 — coalescing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Coalesced ✅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인접 스레드 → 인접 주소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적은 트랜잭션·높은 대역폭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grid-stride 루프로 달성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Strided/blocked 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멀리 떨어진 주소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폭증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낭비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291840" y="7503566"/>
            <a:ext cx="14566392" cy="647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일도 접근 패턴만으로 수 배 차이(08에서 측정)</a:t>
            </a:r>
            <a:endParaRPr lang="en-US" sz="23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동기화와 atomic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레이스: 동시 수정 시 결과 깨짐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`atomic`: 읽기-수정-쓰기를 나눌 수 없는 한 번(`cuda.atomic.add`)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`syncthreads()`: 블록 내 스레드 동기화(공유메모리 전후)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09 히스토그램에서 단계적으로 적용</a:t>
            </a:r>
            <a:endParaRPr lang="en-US" sz="27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occupancy(점유율)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SM에 동시에 올라간 warp 비율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높을수록 지연을 잘 숨김(무조건 빠른 건 아님)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블록당 스레드·레지스터·공유메모리가 좌우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threads/items 파라미터 튜닝(08·11)</a:t>
            </a:r>
            <a:endParaRPr lang="en-US" sz="27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개념 → 노트북 매핑</a:t>
            </a:r>
            <a:endParaRPr lang="en-US" sz="3000" dirty="0"/>
          </a:p>
        </p:txBody>
      </p:sp>
      <p:graphicFrame>
        <p:nvGraphicFramePr>
          <p:cNvPr id="1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5" cy="4046220"/>
        </p:xfrm>
        <a:graphic>
          <a:graphicData uri="http://schemas.openxmlformats.org/drawingml/2006/table">
            <a:tbl>
              <a:tblPr/>
              <a:tblGrid>
                <a:gridCol w="4208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개념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Numba(08·09)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cccl(10)/Raw(11)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인덱싱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직접(cuda.grid)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추상화 / 직접(CUDA C)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coalescing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측정·적용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/ 적용(타일)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공유메모리·atomic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/ 사용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스윕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/ 스윕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53689" y="6856171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07=CuPy가 대신 처리(쉬움) · 08·09=Numba 직접 · 10=추상화 · 11=CUDA C</a:t>
            </a:r>
            <a:endParaRPr lang="en-US" sz="23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커널 작성 선택지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`@cupy.fuse` — 데코레이터만(원소/리덕션 융합)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`ElementwiseKernel`/`ReductionKernel` — 작은 C 식만(이 노트북)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`RawKernel` — CUDA C 전체(11)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`Numba CUDA` — Python으로 완전한 커널(08~09)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 → 어려움 순</a:t>
            </a:r>
            <a:endParaRPr lang="en-US" sz="27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ElementwiseKernel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원소별 C 식만 작성, CuPy가 인덱싱·런치 자동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clamp_scale = cp.ElementwiseKernel(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'float32 x, float32 lo, float32 hi, float32 scale', 'float32 y',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'float v=x; if(v&lt;lo)v=lo; if(v&gt;hi)v=hi; y=v*scale;', 'clamp_scale')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clamp_scale(x, cp.float32(-1), cp.float32(1), cp.float32(0.5))</a:t>
            </a:r>
            <a:endParaRPr lang="en-US" sz="19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LeakyReLU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`y = x&gt;0 ? x : a*x` 를 ElementwiseKernel로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leaky = cp.ElementwiseKernel('float32 x, float32 a','float32 y','...','leaky')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= np.where(x_np&gt;0, x_np, a*x_np)</a:t>
            </a:r>
            <a:endParaRPr lang="en-US" sz="19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LeakyReLU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leaky = cp.ElementwiseKernel('float32 x, float32 a','float32 y',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'y = x &gt; 0 ? x : a * x;','leaky_relu')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allclose(ref, leaky(cp.asarray(x_np), cp.float32(a)), name='leaky')</a:t>
            </a:r>
            <a:endParaRPr lang="en-US" sz="19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ReductionKernel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map→reduce 5요소: in/out/map/reduce/post/identity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= cp.ReductionKernel('float32 x','float32 y',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'fabsf(x)', 'a + b', 'y = a', '0.0f', 'l1_norm')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 norm = 각 원소 |x| 매핑 후 합산</a:t>
            </a:r>
            <a:endParaRPr lang="en-US" sz="19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제곱합 / 가중합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sum(x*x) ReductionKernel ② sum(x*w) (입력 2개)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 = cp.ReductionKernel('float32 x','float32 y','x*x','a+b','y=a','0.0f','sum_sq')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wsum = cp.ReductionKernel('float32 x, float32 w','float32 y','x*w','a+b','y=a','0.0f','wsum')</a:t>
            </a:r>
            <a:endParaRPr lang="en-US" sz="19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제곱합/가중합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  = cp.ReductionKernel('float32 x','float32 y','x*x','a+b','y=a','0.0f','sum_sq')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wsum = cp.ReductionKernel('float32 x, float32 w','float32 y','x*w','a+b','y=a','0.0f','wsum')</a:t>
            </a:r>
            <a:endParaRPr lang="en-US" sz="19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파라미터 — 이웃 접근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`raw`+루프 인덱스 `i`로 임의 원소 접근(예: 전진 차분)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 = cp.ElementwiseKernel('raw float32 x, int32 n','float32 y',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'y = (i &lt; n-1) ? x[i+1]-x[i] : 0.0f;', 'fwd_diff')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fwd(x, np.int32(x.size), y)   # 출력 배열로 루프 크기 지정</a:t>
            </a:r>
            <a:endParaRPr lang="en-US" sz="1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@cupy.fuse 와의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융합 → @cupy.fuse가 가장 쉬움(03)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식 제어 → Elementwise/Reduction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공유메모리·atomic·복잡 인덱싱 → Numba(08·09)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 직접 → RawKernel(11)</a:t>
            </a:r>
            <a:endParaRPr lang="en-US" sz="27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요약 — 어떤 커널을 언제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연산: 순수 CuPy / @cupy.fuse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원소·리덕션 커스텀: Elementwise/Reduction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필요(메모리·atomic): Numba CUDA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병렬패턴: cuda-cccl(10)</a:t>
            </a:r>
            <a:endParaRPr lang="en-US" sz="27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warp 스케줄링 &amp; occupancy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SM의 warp 스케줄러가 매 사이클 준비된 warp 발행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warp가 대기 → 다른 warp 실행(latency hiding)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활성 warp / 최대(예: 48 warp = 1536 스레드)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높을수록 지연 은닉 여지↑, 단 50~70% 이후 수확 체감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레지스터·공유메모리 사용량이 occupancy 제한</a:t>
            </a:r>
            <a:endParaRPr lang="en-US" sz="27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07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커널·thread/block/grid·SIMT 설명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계층·coalescing·atomic·occupancy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개념→노트북 매핑 이해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Elementwise/Reduction 작성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08 Numba CUDA copy</a:t>
            </a:r>
            <a:endParaRPr lang="en-US" sz="28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6 · 노트북 08 (GTC 06)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Numba CUDA ①: Copy &amp; 메모리 접근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@cuda.jit · grid/block · coalescing · occupancy · Nsight Compute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@cuda.jit로 커널 정의·런치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vs coalesced 접근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파라미터 스윕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(선택) Nsight Compute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구현하는 개념(07)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스레드 인덱싱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coalescing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occupancy</a:t>
            </a:r>
            <a:endParaRPr lang="en-US" sz="25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Numba CUDA 기초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`@cuda.jit` Python 함수 = GPU 커널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`cuda.grid(1)` = 전역 인덱스(07의 2절)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런치: `kernel[blocks, threads](args)`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배열을 그대로 입력(무복사, CAI)</a:t>
            </a:r>
            <a:endParaRPr lang="en-US" sz="27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Numba 커널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numba import cuda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scale_kernel(x, y, a):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x.size: y[i] = a * x[i]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scale_kernel[blocks, threads](x, y, np.float32(2.0))</a:t>
            </a:r>
            <a:endParaRPr lang="en-US" sz="19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Copy (기준)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스레드가 연속된 ipt개를 복사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스레드엔 연속이지만, **warp 인접 스레드는 멀리 떨어진 주소**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흩어진(non-coalesced) 접근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효율 낮음</a:t>
            </a:r>
            <a:endParaRPr lang="en-US" sz="27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Copy 코드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copy_blocked(src, dst, ipt):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cuda.grid(1) * ipt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range(ipt):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base+k &lt; src.size: dst[base+k] = src[base+k]</a:t>
            </a:r>
            <a:endParaRPr lang="en-US" sz="19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Coalesced Copy (최적화)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grid-stride 루프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인접 스레드 → 인접 주소(연속 접근)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 = cuda.grid(1); stride = cuda.gridsize(1)`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합쳐져 대역폭↑</a:t>
            </a:r>
            <a:endParaRPr lang="en-US" sz="27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Coalesced Copy 코드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copy_coalesced(src, dst):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stride = cuda.gridsize(1)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src.size: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dst[i] = src[i]; i += stride</a:t>
            </a:r>
            <a:endParaRPr lang="en-US" sz="1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복사, 접근 패턴만 다름 → 측정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print_bench(bench(run_blocked,   name='blocked'))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print_bench(bench(run_coalesced, name='coalesced'))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보통 coalesced가 더 빠름</a:t>
            </a:r>
            <a:endParaRPr lang="en-US" sz="19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파라미터 스윕 (occupancy)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threads in [64,128,256,512,1024]: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run(t=threads): copy_coalesced[2048, t](src, dst)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print_bench(bench(run, name=f'threads={threads}'))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occupancy·메모리 효율에 따라 최적점</a:t>
            </a:r>
            <a:endParaRPr lang="en-US" sz="19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(선택) Nsight Compute 워크플로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프로파일은 별도 프로세스 실행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`%%writefile copy.py` 로 스크립트 저장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`ncu -f --set full -o copy python copy.py`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`nsightful`로 노트북에 리포트 표시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Workload 처리량으로 coalescing 효과 확인</a:t>
            </a:r>
            <a:endParaRPr lang="en-US" sz="27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coalesced &amp; saxpy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grid-stride coalesced copy 구현 ② saxpy(y=a*x+b) Numba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saxpy(x, y, a, b):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i=cuda.grid(1); s=cuda.gridsize(1); while i&lt;x.size: y[i]=a*x[i]+b; i+=s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9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saxpy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saxpy(x, y, a, b):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cuda.grid(1); s = cuda.gridsize(1)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x.size: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y[i] = a*x[i] + b; i += s</a:t>
            </a:r>
            <a:endParaRPr lang="en-US" sz="19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2D naive transpose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행을 읽어 열에 쓰는 전치. 쓰기가 비연속임을 관찰(11에서 타일로 개선)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transpose_naive(a, out, n):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i,j = cuda.grid(2); if i&lt;n and j&lt;n: out[j,i]=a[i,j]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9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2D transpose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transpose_naive(a, out, n):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i, j = cuda.grid(2)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n and j &lt; n: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out[j, i] = a[i, j]   # 읽기 연속, 쓰기 비연속</a:t>
            </a:r>
            <a:endParaRPr lang="en-US" sz="19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items_per_thread 실험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스레드당 처리량(ipt)을 바꿔 측정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ipt↑ → 런치 블록↓, 레지스터 사용↑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occupancy·접근 패턴에 영향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최적값은 측정으로 결정</a:t>
            </a:r>
            <a:endParaRPr lang="en-US" sz="27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바운드 커널은 **접근 패턴이 전부**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coalesced(grid-stride) 기본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검사 필수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파라미터는 측정으로 튜닝</a:t>
            </a:r>
            <a:endParaRPr lang="en-US" sz="27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메모리 트랜잭션 개념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메모리는 warp 단위로 묶어 큰 트랜잭션(예: 128B)으로 처리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스레드가 인접 주소면 한 트랜잭션에 모두 포함(효율↑)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흩어지면 여러 트랜잭션 → 대역폭 낭비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coalescing = 트랜잭션 수 최소화</a:t>
            </a:r>
            <a:endParaRPr lang="en-US" sz="27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grid-stride 루프의 장점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임의 크기 입력 처리(블록 수와 무관)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인접 스레드가 인접 주소 → coalesced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수를 occupancy에 맞게 자유 선택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간결·재사용 용이</a:t>
            </a:r>
            <a:endParaRPr lang="en-US" sz="27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메모리 트랜잭션 &amp; 캐시라인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메모리는 캐시라인 128B(=32×4B) 단위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이후 L1은 32B 섹터 단위 로드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warp가 한 라인에 정렬 접근 → 1 트랜잭션(최적)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cudaMalloc 256B 정렬 → coalescing 유리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blocked(흩어짐) = 여러 라인/섹터 = 대역폭 낭비</a:t>
            </a:r>
            <a:endParaRPr lang="en-US" sz="27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08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@cuda.jit+cuda.grid로 커널 작성·런치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vs coalesced 성능 측정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grid-stride coalesced 구현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스윕(occupancy)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09 히스토그램(atomic·공유메모리)</a:t>
            </a:r>
            <a:endParaRPr lang="en-US" sz="28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6 · 노트북 09 (GTC 07)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Numba CUDA ②: 히스토그램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레이스 → atomic → 공유메모리 단계 최적화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누적의 데이터 레이스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cuda.atomic.add로 수정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 privatization 가속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구현하는 개념(07)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atomic/동기화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메모리 계층(공유)</a:t>
            </a:r>
            <a:endParaRPr lang="en-US" sz="25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히스토그램이란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값의 등장 횟수 세기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256칸 배열에 값마다 +1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단순: 각 스레드가 자기 값 칸을 증가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hist[v]=hist[v]+1 은 위험</a:t>
            </a:r>
            <a:endParaRPr lang="en-US" sz="27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전역 naive (레이스)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hist_naive(values, hist):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values.size: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values[i]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hist[v] = hist[v] + 1   # ⚠️ 데이터 레이스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합계가 N보다 작음 → 증가 손실</a:t>
            </a:r>
            <a:endParaRPr lang="en-US" sz="19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레이스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읽기-수정-쓰기가 분리돼 충돌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읽기(0) → T1 읽기(0) → 둘 다 1로 쓰기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 증가가 사라짐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나눌 수 없는 atomic 연산</a:t>
            </a:r>
            <a:endParaRPr lang="en-US" sz="27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atomic으로 수정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hist_atomic(values, hist):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values.size: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cuda.atomic.add(hist, values[i], 1)   # 원자적 증가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합계 == N, 정확</a:t>
            </a:r>
            <a:endParaRPr lang="en-US" sz="19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전역 atomic은 느린가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블록이 같은 256칸을 두고 경합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메모리는 느림(off-chip)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경합이 심할수록(좁은 분포) 더 느림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블록별 공유메모리 히스토그램</a:t>
            </a:r>
            <a:endParaRPr lang="en-US" sz="27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공유메모리 privatization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525231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4830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hist_shared(values, hist):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smem = cuda.shared.array(256, numba.int32)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cuda.threadIdx.x; nt = cuda.blockDim.x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j &lt; 256: smem[j]=0; j+=nt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cuda.syncthreads()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cuda.grid(1); stride = cuda.gridsize(1)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values.size: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cuda.atomic.add(smem, values[i], 1); i+=stride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cuda.syncthreads()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j &lt; 256: cuda.atomic.add(hist, j, smem[j]); j+=nt</a:t>
            </a:r>
            <a:endParaRPr lang="en-US" sz="19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공유메모리 최적화 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블록이 자기만의 히스토그램(공유메모리)에 누적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공유메모리는 온칩 → 빠름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경합 범위가 블록 내로 축소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블록 결과만 전역에 합침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syncthreads로 초기화·집계 경계 보장</a:t>
            </a:r>
            <a:endParaRPr lang="en-US" sz="27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비교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print_bench(bench(run_atomic, name='global atomic'))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print_bench(bench(run_shared, name='shared atomic'))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분포가 좁을수록 공유메모리 이득 큼</a:t>
            </a:r>
            <a:endParaRPr lang="en-US" sz="19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atomic 구현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naive를 cuda.atomic.add로 고쳐 합계==N·정확성 검증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hist_atomic(values, hist):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values.size: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   # TODO: cuda.atomic.add(hist, values[i], 1)</a:t>
            </a:r>
            <a:endParaRPr lang="en-US" sz="19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atomic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hist_atomic(values, hist):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values.size: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cuda.atomic.add(hist, values[i], 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int(hist.sum()) == N</a:t>
            </a:r>
            <a:endParaRPr lang="en-US" sz="19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cp.bincount 대비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h_cp = cp.bincount(values, minlength=256)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np.testing.assert_array_equal(run_shared(), h_cp)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print_bench(bench(lambda: cp.bincount(values, minlength=256)))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내장과 정확성 일치, 직접 커널의 학습 가치</a:t>
            </a:r>
            <a:endParaRPr lang="en-US" sz="19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블록 수 스케일링 실험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blocks를 256/1024/4096로 바꿔 측정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grid-stride라 블록 수 자유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스레드당 처리량·occupancy 영향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최적값은 측정으로</a:t>
            </a:r>
            <a:endParaRPr lang="en-US" sz="27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(선택) cooperative &amp; ncu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`cuda.cooperative`의 block.load로 striped 로드(실험적)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로드와 갱신 분리로 추가 가속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 Memory Workload로 단계별 처리량 비교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트랜잭션이 줄어든 것을 확인</a:t>
            </a:r>
            <a:endParaRPr lang="en-US" sz="27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누적엔 atomic 필수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atomic 경합 → 공유메모리로 완화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syncthreads로 단계 경계 보장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privatization은 보편적 최적화 패턴</a:t>
            </a:r>
            <a:endParaRPr lang="en-US" sz="27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연산 종류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add·max·min·and/or/xor·compare-and-swap(CAS)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정수/실수(add 등) 지원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경합이 심하면 atomic도 느려짐 → 범위 축소가 핵심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갱신은 CAS 루프로 구현</a:t>
            </a:r>
            <a:endParaRPr lang="en-US" sz="27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privatization 패턴 일반화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블록별 사본을 공유메모리에 두고 합치는 패턴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히스토그램 외에 부분합·카운팅·버킷팅에도 적용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경합을 블록 내로 축소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블록 결과만 전역에 병합</a:t>
            </a:r>
            <a:endParaRPr lang="en-US" sz="27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분포와 경합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소수 칸에 몰리면(좁은 분포) atomic 경합↑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퍼지면 경합↓ → 전역 atomic도 괜찮음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 이득은 경합이 클수록 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데이터로 측정해 선택</a:t>
            </a:r>
            <a:endParaRPr lang="en-US" sz="27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공유메모리 &amp; 뱅크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공유메모리는 온칩 — 전역보다 훨씬 낮은 지연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32개 뱅크로 인터리브: 서로 다른 뱅크는 동시 접근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뱅크 동시 접근 → 직렬화(bank conflict)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privatization: 전역 atomic 경합을 블록 내 공유로 축소</a:t>
            </a:r>
            <a:endParaRPr lang="en-US" sz="27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09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레이스 설명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cuda.atomic.add로 안전 누적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공유메모리+syncthreads로 가속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vs 공유 성능 비교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10 cuda-cccl</a:t>
            </a:r>
            <a:endParaRPr lang="en-US" sz="28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7 · 노트북 10 (GTC 05)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병렬 알고리즘 cuda-cccl (cuda.compute)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· scan · transform · iterators · 커스텀 연산 · 종합 평가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위치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reduce_into·커스텀 연산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unary_transform·iterators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scan·gpu_struct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cccl/Numba/CuPy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위치(07 개념)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개념을 알고리즘이 내부 처리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'무엇을'만 지정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생산성↑·검증된 성능</a:t>
            </a:r>
            <a:endParaRPr lang="en-US" sz="25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cuda-cccl 이란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CCCL의 Python 인터페이스 `cuda.compute`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배열/범위 단위 병렬 알고리즘: reduce/scan/sort/transform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손으로 튠한 CUDA 커널급 성능·이식성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연산은 numba-cuda로 컴파일(람다 불가)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실험적 — `pip install cuda-cccl`</a:t>
            </a:r>
            <a:endParaRPr lang="en-US" sz="27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reduce_into — 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(d_in, d_out, op, num, h_init)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cuda.compute; from cuda.compute import OpKind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d_in = cp.arange(1,1000001,dtype=np.int32); d_out = cp.empty(1,dtype=np.int32)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h_init = np.array([0],dtype=np.int32)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cuda.compute.reduce_into(d_in, d_out, OpKind.PLUS, d_in.size, h_init)</a:t>
            </a:r>
            <a:endParaRPr lang="en-US" sz="19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커스텀 이항연산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연산 대신 함수(람다 불가). 예: 짝수만 합산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add_even(a, b):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(a if a%2==0 else 0) + (b if b%2==0 else 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cuda.compute.reduce_into(d_in, d_out, add_even, d_in.size, h_init)</a:t>
            </a:r>
            <a:endParaRPr lang="en-US" sz="19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unary_transform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sq(x): return x*x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cuda.compute.unary_transform(d_in, d_out, sq, d_in.size)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원소에 함수 적용 → 출력 배열</a:t>
            </a:r>
            <a:endParaRPr lang="en-US" sz="19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(메모리 없는 시퀀스)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cuda.compute import CountingIterator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CountingIterator(np.int32(10))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cuda.compute.reduce_into(first, d_out, OpKind.PLUS, 100, h_init)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배열 할당 없이 10..109 합</a:t>
            </a:r>
            <a:endParaRPr lang="en-US" sz="19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무엇을 쓰나</a:t>
            </a:r>
            <a:endParaRPr lang="en-US" sz="3000" dirty="0"/>
          </a:p>
        </p:txBody>
      </p:sp>
      <p:graphicFrame>
        <p:nvGraphicFramePr>
          <p:cNvPr id="2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3595299" cy="4046220"/>
        </p:xfrm>
        <a:graphic>
          <a:graphicData uri="http://schemas.openxmlformats.org/drawingml/2006/table">
            <a:tbl>
              <a:tblPr/>
              <a:tblGrid>
                <a:gridCol w="4208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쓸 때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CuPy 함수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 연산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간단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fuse/Element/Reduction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원소·리덕션 커스텀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약간 제어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cuda-cccl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정형 병렬패턴+커스텀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검증된 성능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Numba CUDA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완전한 제어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공유메모리·atomic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(prefix sum)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scan: out[i]=op(in[0..i-1]) — API 실험적(인자 순서 확인)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d_in = cp.ones(10,dtype=np.int32); d_out = cp.empty(10,dtype=np.int32)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cuda.compute.exclusive_scan(d_in, d_out, OpKind.PLUS, np.array([0],np.int32), 10)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0,1,2,...,9 (앞까지 합)</a:t>
            </a:r>
            <a:endParaRPr lang="en-US" sz="19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커스텀 구조체 (gpu_struct)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cuda.compute import gpu_struct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@gpu_struct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Pixel: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r: np.int32; g: np.int32; b: np.int32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max_g(x,y): return x if x.g&gt;y.g else y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cuda.compute.reduce_into(d_rgb, d_out, max_g, d_rgb.size, Pixel(0,0,0))</a:t>
            </a:r>
            <a:endParaRPr lang="en-US" sz="19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평가 — 센서 직전 최고치 (GTC 08)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prev_peak[i] = max(readings[0..i-1]) 를 max exclusive scan으로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max_op(a,b): return a if a&gt;b else b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h_init = np.array([-2**31], np.int32)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cuda.compute.exclusive_scan(readings, prev_peak, max_op, h_init, N)</a:t>
            </a:r>
            <a:endParaRPr lang="en-US" sz="19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직전 최고치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h_init = np.array([-2**31], dtype=np.int32)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cuda.compute.exclusive_scan(readings, prev_peak, max_op, h_init, 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검증: prev_peak[1:] == np.maximum.accumulate(readings)[:-1]</a:t>
            </a:r>
            <a:endParaRPr lang="en-US" sz="19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커스텀 op 최댓값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reduce_into + max_op + 아주 작은 h_init 으로 최댓값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cp.max 와 일치 검증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sort/merge_sort 등 다른 알고리즘도 동일 방식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조합으로 메모리 절약</a:t>
            </a:r>
            <a:endParaRPr lang="en-US" sz="27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병렬패턴은 직접 짜지 말고 cccl로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reduce/scan/transform + 커스텀 연산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iterator로 무복사 시퀀스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실험적 API — 버전·설치 확인</a:t>
            </a:r>
            <a:endParaRPr lang="en-US" sz="27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cuda.compute 알고리즘</a:t>
            </a:r>
            <a:endParaRPr lang="en-US" sz="3000" dirty="0"/>
          </a:p>
        </p:txBody>
      </p:sp>
      <p:graphicFrame>
        <p:nvGraphicFramePr>
          <p:cNvPr id="2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3595299" cy="4046220"/>
        </p:xfrm>
        <a:graphic>
          <a:graphicData uri="http://schemas.openxmlformats.org/drawingml/2006/table">
            <a:tbl>
              <a:tblPr/>
              <a:tblGrid>
                <a:gridCol w="356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2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1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리덕션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reduce_into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합·최대·커스텀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inclusive/exclusive_scan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누적합·러닝최대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unary/binary_transform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원소 매핑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정렬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merge_sort·radix_sort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키/값 정렬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API &amp; 임시 저장소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알고리즘은 임시 버퍼가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기본은 자동 할당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`make_reduce_into`로 객체 생성 → temp_storage 크기 조회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할당자(직접 버퍼)로 제어 가능</a:t>
            </a:r>
            <a:endParaRPr lang="en-US" sz="27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TransformIterator 조합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cuda.compute import TransformIterator, CountingIterator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TransformIterator(CountingIterator(np.int32(10)), lambda... )  # 람다 불가→함수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시퀀스를 변환해 바로 reduce — 중간 배열 없이 합성</a:t>
            </a:r>
            <a:endParaRPr lang="en-US" sz="19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정렬 &amp; 기타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merge_sort·radix_sort (키 또는 키/값)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안정/불안정·성능 특성 차이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iterator·커스텀 비교로 유연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문서의 examples 컬렉션 참고</a:t>
            </a:r>
            <a:endParaRPr lang="en-US" sz="27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관점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손튜닝 커널급 성능을 Python에서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Numba 커널보다 생산성↑·버그↓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패턴이면 cccl이 거의 항상 유리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 로직만 직접 커널</a:t>
            </a:r>
            <a:endParaRPr lang="en-US" sz="27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병렬 프리미티브: reduce · scan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 리덕션: 깊이 O(log n), 총 작업 O(n)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scan(prefix): work-efficient 알고리즘은 O(n) 작업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결합법칙(associative) 연산이어야 병렬화 가능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cccl은 이 최적 구현을 제공 → 직접 구현보다 유리</a:t>
            </a:r>
            <a:endParaRPr lang="en-US" sz="27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10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reduce_into·커스텀 연산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unary_transform·iterators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scan·gpu_struct·종합 평가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cccl/Numba/CuPy 선택 기준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11 RawKernel &amp; 최적화</a:t>
            </a:r>
            <a:endParaRPr lang="en-US" sz="28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8 · 노트북 11 (심화)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RawKernel &amp; 커널 개념 적용 기술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 직접 작성 · 최적화 기술 · 공유메모리 리덕션/타일 transpose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위치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RawKernel로 1D·2D 커널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 블록 리덕션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기술(coalescing·타일링)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개념(07)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인덱싱(직접)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coalescing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공유메모리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occupancy</a:t>
            </a:r>
            <a:endParaRPr lang="en-US" sz="25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RawKernel 이란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 소스 전체를 문자열로 작성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grid/block 직접 지정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강력·가장 낮은 수준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과정은 차별성상 심화 — 같은 개념을 08~09는 Numba로</a:t>
            </a:r>
            <a:endParaRPr lang="en-US" sz="27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기초 — saxpy (1D)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saxpy = cp.RawKernel(r'''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"C" __global__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saxpy(const float* x, float* y, float a, float b, int n){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 = blockIdx.x*blockDim.x + threadIdx.x;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(i&lt;n) y[i] = a*x[i]+b;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}''', 'saxpy')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saxpy((blocks,),(threads,),(x,y,cp.float32(2),cp.float32(1),np.int32(n)))</a:t>
            </a:r>
            <a:endParaRPr lang="en-US" sz="19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스텐실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extern "C" __global__ void stencil5(x,y,nx,ny)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blockIdx.x*blockDim.x + threadIdx.x;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j = blockIdx.y*blockDim.y + threadIdx.y;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(i&lt;=0||j&lt;=0||i&gt;=nx-1||j&gt;=ny-1) return;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idx = j*nx+i;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y[idx] = 0.25f*(x[idx-nx]+x[idx+nx]+x[idx-1]+x[idx+1]) - x[idx];</a:t>
            </a:r>
            <a:endParaRPr lang="en-US" sz="19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블록 크기 튜닝 (occupancy)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[(8,8),(16,16),(32,8),(32,16)]: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 = (ceil(nx/block[0]), ceil(ny/block[1]))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print(block, gpu_ms(bench(lambda: stencil5(grid,block,args))))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블록 모양에 따라 성능 변화</a:t>
            </a:r>
            <a:endParaRPr lang="en-US" sz="19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커널 최적화 기술</a:t>
            </a:r>
            <a:endParaRPr lang="en-US" sz="3000" dirty="0"/>
          </a:p>
        </p:txBody>
      </p:sp>
      <p:graphicFrame>
        <p:nvGraphicFramePr>
          <p:cNvPr id="2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4242694" cy="5664708"/>
        </p:xfrm>
        <a:graphic>
          <a:graphicData uri="http://schemas.openxmlformats.org/drawingml/2006/table">
            <a:tbl>
              <a:tblPr/>
              <a:tblGrid>
                <a:gridCol w="453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개념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연속 접근(grid-stride)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coalescing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대역폭↑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공유메모리 타일링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메모리계층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전역 접근↓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분기 최소화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SIMT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divergence↓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const/__restrict__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컴파일러 최적화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블록/스레드 튜닝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 숨김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연산 융합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런치·중간배열↓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grid-stride (coalesced)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y[i]=a*x[i], const/__restrict__ + grid-stride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saxpy_gs(const float* __restrict__ x, float* __restrict__ y, float a, int n){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 = blockIdx.x*blockDim.x + threadIdx.x;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stride = gridDim.x*blockDim.x;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(; i&lt;n; i+=stride) y[i]=a*x[i];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공유메모리 블록 리덕션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공유메모리+syncthreads+트리 리덕션 (개념 4·6 종합)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30668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26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__shared__ float sdata[256];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tid=threadIdx.x; int i=blockIdx.x*blockDim.x+tid;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sdata[tid] = (i&lt;n)? x[i] : 0.0f; __syncthreads();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s=blockDim.x/2; s&gt;0; s&gt;&gt;=1){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(tid&lt;s) sdata[tid]+=sdata[tid+s]; __syncthreads();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(tid==0) partial[blockIdx.x]=sdata[0];</a:t>
            </a:r>
            <a:endParaRPr lang="en-US" sz="19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리덕션 런치 &amp;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block_sum((blocks,),(threads,),(x,partial,np.int32(n)), shared_mem=threads*4)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float(partial.sum())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allclose(float(x.sum()), total, rtol=1e-3, atol=1e-1)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shared_mem 로 __shared__ 크기 지정</a:t>
            </a:r>
            <a:endParaRPr lang="en-US" sz="19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공유메모리 타일 transpose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전치는 쓰기가 비연속 → 느림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타일을 공유메모리에 연속 읽기 → syncthreads → 연속 쓰기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읽기·쓰기 모두 coalesced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뱅크 충돌 회피: tile[TILE][TILE+1] 패딩</a:t>
            </a:r>
            <a:endParaRPr lang="en-US" sz="27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타일 transpose 코드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__shared__ float tile[TILE][TILE+1];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x=blockIdx.x*TILE+threadIdx.x, y=blockIdx.y*TILE+threadIdx.y;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if(x&lt;n&amp;&amp;y&lt;n) tile[threadIdx.y][threadIdx.x]=a[y*n+x];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__syncthreads();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tx=blockIdx.y*TILE+threadIdx.x, ty=blockIdx.x*TILE+threadIdx.y;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if(tx&lt;n&amp;&amp;ty&lt;n) out[ty*n+tx]=tile[threadIdx.x][threadIdx.y];</a:t>
            </a:r>
            <a:endParaRPr lang="en-US" sz="19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clamp RawKernel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min(max(x,lo),hi) 를 RawKernel(grid-stride)로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clamp(const float* x, float* y, float lo, float hi, int n)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i=blockIdx.x*blockDim.x+threadIdx.x; grid-stride; v=clamp(x[i])</a:t>
            </a:r>
            <a:endParaRPr lang="en-US" sz="19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clamp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clamp(const float* __restrict__ x, float* __restrict__ y, float lo, float hi, int n){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i=blockIdx.x*blockDim.x+threadIdx.x, s=gridDim.x*blockDim.x;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for(; i&lt;n; i+=s){ float v=x[i]; v=v&lt;lo?lo:(v&gt;hi?hi:v); y[i]=v; }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RawKernel = 최대 제어, CUDA C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최적화는 coalescing·공유메모리·튜닝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타일링은 전치/행렬곱의 핵심 패턴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대부분은 Numba/cccl로 충분</a:t>
            </a:r>
            <a:endParaRPr lang="en-US" sz="27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RawKernel 런치 인자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`kernel(grid, block, args)` — grid/block은 튜플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args는 배열·스칼라(`np.int32`/`cp.float32`로 타입 명시)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공유메모리: `shared_mem=바이트` 인자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C 로 이름 맹글링 방지</a:t>
            </a:r>
            <a:endParaRPr lang="en-US" sz="27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__shared__ 와 뱅크 충돌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공유메모리는 32개 뱅크로 분할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뱅크 동시 접근 → 직렬화(뱅크 충돌)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`tile[TILE][TILE+1]` 패딩으로 회피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리덕션·타일링의 핵심 디테일</a:t>
            </a:r>
            <a:endParaRPr lang="en-US" sz="27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트리 리덕션 동작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스레드를 절반씩 줄이며 합산(s&gt;&gt;=1)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log2(블록크기) 단계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단계 syncthreads로 동기화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tid==0이 블록 결과 기록</a:t>
            </a:r>
            <a:endParaRPr lang="en-US" sz="27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RawKernel vs Numba vs cccl</a:t>
            </a:r>
            <a:endParaRPr lang="en-US" sz="3000" dirty="0"/>
          </a:p>
        </p:txBody>
      </p:sp>
      <p:graphicFrame>
        <p:nvGraphicFramePr>
          <p:cNvPr id="2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3595300" cy="3236976"/>
        </p:xfrm>
        <a:graphic>
          <a:graphicData uri="http://schemas.openxmlformats.org/drawingml/2006/table">
            <a:tbl>
              <a:tblPr/>
              <a:tblGrid>
                <a:gridCol w="4208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8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제어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생산성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RawKernel(CUDA C)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Numba CUDA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cuda-cccl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제한(정형)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53689" y="6856171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대부분은 Numba/cccl로 충분 — RawKernel은 특수/이식</a:t>
            </a:r>
            <a:endParaRPr lang="en-US" sz="23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타일링이 이기는 이유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재접근을 공유메모리 재사용으로 대체 → 연산강도↑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루프라인상 메모리 바운드에서 벗어남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타일 크기·뱅크 패딩(TILE+1)이 성능 좌우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전치·행렬곱의 표준 최적화 패턴</a:t>
            </a:r>
            <a:endParaRPr lang="en-US" sz="27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11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RawKernel 1D/2D 작성·런치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튜닝(occupancy)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기술 이해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공유메모리 리덕션·타일 transpose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12 프레임워크 통합</a:t>
            </a:r>
            <a:endParaRPr lang="en-US" sz="28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9 · 노트북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프레임워크 통합 (DLPack · PyTorch 무복사)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· __cuda_array_interface__ · CuPy↔PyTorch · Numba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 &amp; 진행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55503" y="1434694"/>
            <a:ext cx="7202729" cy="5826557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15538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5538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DLPack·CAI 무복사 교환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CuPy↔PyTorch 포인터 공유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Numba↔CuPy(CAI)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소유권·동기화 주의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80115" y="1677010"/>
            <a:ext cx="6554419" cy="72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80115" y="2567635"/>
            <a:ext cx="6554419" cy="453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interop(2)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DLPack(3~5)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CAI·주의(6~7)</a:t>
            </a:r>
            <a:endParaRPr lang="en-US" sz="25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Numba·연습(8~9)</a:t>
            </a:r>
            <a:endParaRPr lang="en-US" sz="25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상호운용인가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전처리(CuPy) → 모델(PyTorch) 파이프라인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라이브러리마다 복사하면 전송 낭비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GPU 메모리를 포인터로 공유 → 복사 0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표준: DLPack, CUDA Array Interface</a:t>
            </a:r>
            <a:endParaRPr lang="en-US" sz="27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DLPack 표준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간 텐서 무복사 교환 표준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최신: `from_dlpack()` 하나로 통일(`__dlpack__`)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구버전: `toDlpack()`/`fromDlpack(capsule)`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디바이스에서만 무복사</a:t>
            </a:r>
            <a:endParaRPr lang="en-US" sz="27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 → PyTorch (무복사)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cp.arange(1_000_000,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torch.from_dlpack(x)            # zero-copy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print(t.data_ptr() == x.data.ptr)   # True (공유)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+= 1; print(float(x[0]))          # CuPy에도 반영</a:t>
            </a:r>
            <a:endParaRPr lang="en-US" sz="19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→ CuPy (무복사)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torch.ones(1_000_000, device='cuda')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cp.from_dlpack(t)               # zero-copy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print(g.data.ptr == t.data_ptr())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*= 2; print(float(t[0]))          # torch에도 반영</a:t>
            </a:r>
            <a:endParaRPr lang="en-US" sz="19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__cuda_array_interface__ (CAI)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cp.arange(6, dtype=cp.float32).reshape(2,3)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 = x.__cuda_array_interface__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cai['shape']      # (2,3)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cai['typestr']    # '&lt;f4'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cai['data'][0]    # 디바이스 포인터</a:t>
            </a:r>
            <a:endParaRPr lang="en-US" sz="19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주의점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소유권/수명: 원본이 살아 있어야 공유 뷰 유효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동기화: 다른 스트림이 같은 메모리 → 이벤트로 순서(06)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dtype/연속성: 비연속이면 ascontiguousarray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GPU면 무복사 불가(전송 필요)</a:t>
            </a:r>
            <a:endParaRPr lang="en-US" sz="270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Numba ↔ CuPy (CAI)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 커널은 CuPy 배열을 직접 받음(CAI, 무복사)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@cuda.jit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add_one(a):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cuda.grid(1)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a.size: a[i] += 1.0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cp.arange(16,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add_one[1,16](g)   # in-place, 무복사</a:t>
            </a:r>
            <a:endParaRPr lang="en-US" sz="190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무복사 왕복 &amp; 소유권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CuPy→torch 무복사 변환→torch에서 수정→원본 CuPy에 반영 확인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cp.zeros(8, dtype=cp.float32)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= torch.from_dlpack(x); t.add_(5)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print(cp.asnumpy(x))   # [5,5,...] ?</a:t>
            </a:r>
            <a:endParaRPr lang="en-US" sz="19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왕복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torch.from_dlpack(x)   # zero-copy view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t.add_(5)                  # in-place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print(cp.asnumpy(x))       # [5,...] 반영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print(t.data_ptr() == x.data.ptr)  # True</a:t>
            </a:r>
            <a:endParaRPr lang="en-US" sz="190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— 전처리→torch→후처리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434694"/>
            <a:ext cx="3236976" cy="56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3689" y="1919326"/>
            <a:ext cx="14242694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CuPy 표준화 → torch.relu(무복사) → 다시 CuPy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453689" y="2809951"/>
            <a:ext cx="14242694" cy="161025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12464" y="3020263"/>
            <a:ext cx="13725144" cy="118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pipeline(x_cp):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(x_cp - x_cp.mean())/(x_cp.std()+1e-6)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 = torch.from_dlpack(z); t = torch.relu(t); return cp.from_dlpack(t)</a:t>
            </a:r>
            <a:endParaRPr lang="en-US" sz="190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— 혼합 파이프라인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pipeline(x_cp):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(x_cp-x_cp.mean())/(x_cp.std()+1e-6)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torch.from_dlpack(z)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torch.relu(t)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cp.from_dlpack(t)   # 전송 0</a:t>
            </a:r>
            <a:endParaRPr lang="en-US" sz="190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`from_dlpack` 로 무복사 교환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CuPy↔PyTorch↔Numba 포인터 공유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소유권·동기화·연속성 주의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전처리=CuPy, 모델=프레임워크</a:t>
            </a:r>
            <a:endParaRPr lang="en-US" sz="270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메모리, 두 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무복사 = 같은 GPU 버퍼를 두 라이브러리가 가리킴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 수정이 다른 쪽에 즉시 반영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복사가 없으니 추가 메모리·전송 0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포인터(`data_ptr`/`data.ptr`)로 공유 확인</a:t>
            </a:r>
            <a:endParaRPr lang="en-US" sz="270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DLPack 캡슐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producer가 `__dlpack__` 노출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consumer가 `from_dlpack`로 받음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메타데이터(shape/dtype/strides/디바이스) 전달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표준은 스트림 정보도 포함</a:t>
            </a:r>
            <a:endParaRPr lang="en-US" sz="270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지원 프레임워크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DLPack/CAI를 따르는 GPU 라이브러리들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PyTorch·TensorFlow·JAX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 CUDA·cuDF·RAPIDS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전처리·모델·분석을 무복사로 연결</a:t>
            </a:r>
            <a:endParaRPr lang="en-US" sz="270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 인지 교환 &amp; 동기화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스트림이 같은 메모리 사용 시 순서 보장 필요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이벤트로 의존성 표현(06)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DLPack은 스트림을 명시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조건 주의</a:t>
            </a:r>
            <a:endParaRPr lang="en-US" sz="270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디버깅 체크리스트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포인터 동일성으로 무복사 확인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수명(소유권) 유지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비연속이면 ascontiguousarray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dtype/디바이스 일치</a:t>
            </a:r>
            <a:endParaRPr lang="en-US" sz="270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(이론) 무복사 상호운용 표준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DLPack: producer가 __dlpack__로 텐서 메타 노출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= 포인터·shape·dtype·device·(stream)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consumer가 from_dlpack로 같은 버퍼를 감쌈(복사 0)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CAI(__cuda_array_interface__): 유사한 GPU 배열 교환 규약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소유권·수명·스트림 동기화가 정확성의 핵심</a:t>
            </a:r>
            <a:endParaRPr lang="en-US" sz="270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12 체크포인트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무복사 이해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CuPy↔PyTorch 포인터 공유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CAI·Numba 연동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소유권·동기화 주의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13 종합 캡스톤</a:t>
            </a:r>
            <a:endParaRPr lang="en-US" sz="280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6432" y="329184"/>
            <a:ext cx="1426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단원 9 · 노트북 13 (종합)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01568" y="1481328"/>
            <a:ext cx="14374368" cy="7818120"/>
          </a:xfrm>
          <a:prstGeom prst="roundRect">
            <a:avLst>
              <a:gd name="adj" fmla="val 1170"/>
            </a:avLst>
          </a:prstGeom>
          <a:solidFill>
            <a:srgbClr val="0F172A"/>
          </a:solidFill>
          <a:ln/>
          <a:effectLst>
            <a:outerShdw blurRad="114300" dist="508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996160" y="1097280"/>
            <a:ext cx="3108960" cy="3108960"/>
          </a:xfrm>
          <a:prstGeom prst="lin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023360" y="2743200"/>
            <a:ext cx="1316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전처리 캡스톤 — 커스텀 커널 + interop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23360" y="557784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표준화→커스텀 커널→특징→v0/v1/v2 최적화→PyTorch 무복사 입력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23360" y="845820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 2일 집중 코스 · 강사용</a:t>
            </a:r>
            <a:endParaRPr lang="en-US" sz="180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통합하나</a:t>
            </a:r>
            <a:endParaRPr lang="en-US" sz="3000" dirty="0"/>
          </a:p>
        </p:txBody>
      </p:sp>
      <p:graphicFrame>
        <p:nvGraphicFramePr>
          <p:cNvPr id="2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689" y="1757477"/>
          <a:ext cx="13595299" cy="4855464"/>
        </p:xfrm>
        <a:graphic>
          <a:graphicData uri="http://schemas.openxmlformats.org/drawingml/2006/table">
            <a:tbl>
              <a:tblPr/>
              <a:tblGrid>
                <a:gridCol w="4855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기법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표준화·특징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ndarray·리덕션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02·07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비선형 커스텀 커널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Elementwise/@cupy.fuse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최적화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fuse·out=·전송↓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05·07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최적화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스트림 청크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입력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DLPack 무복사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파이프라인 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(B, N) 잡음 신호 배치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 행별 표준화 → Stage2 커스텀 비선형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 특징(행별 평균/에너지)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Stage4 무복사로 PyTorch 입력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v0→v1→v2 점진 최적화 + 정확성</a:t>
            </a:r>
            <a:endParaRPr lang="en-US" sz="270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단계별 최적화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v0: 동작하는 기준 — 정확성 먼저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커스텀 커널 fuse + 전송 최소화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스트림으로 청크 오버랩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v0와 일치 검증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'정확성 → 최적화' 순서</a:t>
            </a:r>
            <a:endParaRPr lang="en-US" sz="270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0~1 — 생성 &amp; 표준화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B, N = 512, 50_000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X_cp = cp.asarray(X_np)   # 검증용 host 보관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standardize(X):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xp = cp.get_array_module(X)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mu=X.mean(1,keepdims=True); sd=X.std(1,keepdims=True)+1e-6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(X-mu)/sd</a:t>
            </a:r>
            <a:endParaRPr lang="en-US" sz="190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비선형 커스텀 커널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53689" y="1596542"/>
            <a:ext cx="142426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g=tanh(z)·exp(-z²) 를 ElementwiseKernel로(07)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53689" y="2567635"/>
            <a:ext cx="14242694" cy="12463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12464" y="2777947"/>
            <a:ext cx="1372514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= cp.ElementwiseKernel('float32 z','float32 g',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'g = tanhf(z) * expf(-z*z);', 'nl_act')</a:t>
            </a:r>
            <a:endParaRPr lang="en-US" sz="190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3~조립 — v0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features_v0(X):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standardize(X)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nl(z) if cp.get_array_module(X) is cp else (np.tanh(z)*np.exp(-z*z))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g.mean(axis=1)   # (B,) 특징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CPU vs GPU 고유값/특징 allclose 검증</a:t>
            </a:r>
            <a:endParaRPr lang="en-US" sz="190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— fuse + 전송 최소화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@cp.fuse()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nl_fused(z): return cp.tanh(z)*cp.exp(-z*z)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features_v1(X):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nl_fused(standardize(X)).mean(axis=1)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allclose(v0, v1)</a:t>
            </a:r>
            <a:endParaRPr lang="en-US" sz="190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스트림 청크 오버랩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15161"/>
            <a:ext cx="14242694" cy="270296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725473"/>
            <a:ext cx="13725144" cy="228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features_v2(X, nstreams=3, chunk=128):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streams=[cp.cuda.Stream(non_blocking=True) for _ in range(nstreams)]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i,s0 in enumerate(range(0,B,chunk)):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streams[i%nstreams]: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out[s0:s0+chunk]=nl_fused(standardize(X[s0:s0+chunk])).mean(1)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 in streams: st.synchronize()</a:t>
            </a:r>
            <a:endParaRPr lang="en-US" sz="190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입력 — DLPack 무복사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197419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55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 = features_v1(X_cp).reshape(B,1)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torch.from_dlpack(feat)   # zero-copy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torch.randn(1,8,device='cuda')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t @ W                      # 모델 입력으로 사용</a:t>
            </a:r>
            <a:endParaRPr lang="en-US" sz="190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단계별 이벤트 프로파일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53689" y="1596542"/>
            <a:ext cx="14242694" cy="233903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12464" y="1806854"/>
            <a:ext cx="13725144" cy="191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evs=[cp.cuda.Event() for _ in range(4)]; evs[0].record()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z=standardize(X_cp); evs[1].record()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g=nl_fused(z);       evs[2].record()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feat=g.mean(1);      evs[3].record(); evs[3].synchronize()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단계별 elapsed → 병목 식별</a:t>
            </a:r>
            <a:endParaRPr lang="en-US" sz="190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비교 (예상)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CPU → v0 GPU: 큰 폭 가속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temporary↓·전송↓ 추가 개선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청크 오버랩으로 전송-연산 겹침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결과는 GPU·크기에 따라 — 측정으로 확인</a:t>
            </a:r>
            <a:endParaRPr lang="en-US" sz="270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도전 과제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특징을 ReductionKernel/cccl로 교체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비선형을 RawKernel(11)로 작성·비교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pinned+blocking=False 전송 오버랩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전체를 CUDA Graph로 캡처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dtype(float64) 정확도/속도 비교</a:t>
            </a:r>
            <a:endParaRPr lang="en-US" sz="270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전처리란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정규화·필터·증강·배치화 등 모델 입력 준비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CPU 병목 → GPU로 옮기면 큰 이득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전처리를 GPU에 두면 모델과 메모리 공유(무복사)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실시간/대규모 파이프라인에 핵심</a:t>
            </a:r>
            <a:endParaRPr lang="en-US" sz="270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배치 차원과 벡터화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N): 배치 B개 신호를 한 번에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행별 연산은 axis=1·keepdims 브로드캐스팅(02)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배치가 클수록 GPU 효율↑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청크는 배치 차원으로 나눔(독립)</a:t>
            </a:r>
            <a:endParaRPr lang="en-US" sz="2700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커스텀 커널이 필요한 이유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등 원소 연산을 융합해 temporary·런치↓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Elementwise/@cupy.fuse로 간단히(07)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 연산은 Numba/RawKernel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측정으로 효과 확인</a:t>
            </a:r>
            <a:endParaRPr lang="en-US" sz="2700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스트림 청크 설계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크기·nstreams가 오버랩 효율 좌우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청크가 너무 작으면 런치 오버헤드↑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 스트림에서 보통 포화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전송이 클수록 오버랩 이득↑</a:t>
            </a:r>
            <a:endParaRPr lang="en-US" sz="2700" dirty="0"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정확성 검증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버전(v0/v1/v2)을 v0와 allclose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float32는 rtol/atol 키움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입력으로 비교(난수 직접 생성 금지)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고유값/특징 등 불변량으로 검증</a:t>
            </a:r>
            <a:endParaRPr lang="en-US" sz="2700" dirty="0"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2일 코스 회고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5538" y="1596542"/>
            <a:ext cx="14080846" cy="5826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포팅·루틴·메모리·스트림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커널 개념·Numba·cccl·RawKernel·interop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'측정→최적화' 습관, 무복사 파이프라인</a:t>
            </a:r>
            <a:endParaRPr lang="en-US" sz="27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GPU 가속 역량 완성</a:t>
            </a:r>
            <a:endParaRPr lang="en-US" sz="2700" dirty="0"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346704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60520" y="310896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캡스톤 — 제출물 &amp; 코스 마무리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39235" y="2000707"/>
            <a:ext cx="13271602" cy="5502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1~3 + v0 CPU/GPU 일치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v1(fuse)·v2(스트림) 일치 검증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무복사 PyTorch 입력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v0(CPU)→v2(GPU) speedup 표</a:t>
            </a:r>
            <a:endParaRPr lang="en-US" sz="2800" dirty="0"/>
          </a:p>
          <a:p>
            <a:pPr marL="317500" indent="-3175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2일 코스 완료 — 포팅부터 커스텀 커널·통합까지</a:t>
            </a:r>
            <a:endParaRPr lang="en-US" sz="2800" dirty="0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3323</TotalTime>
  <Words>19118</Words>
  <Application>Microsoft Macintosh PowerPoint</Application>
  <PresentationFormat>사용자 지정</PresentationFormat>
  <Paragraphs>2839</Paragraphs>
  <Slides>337</Slides>
  <Notes>309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337</vt:i4>
      </vt:variant>
    </vt:vector>
  </HeadingPairs>
  <TitlesOfParts>
    <vt:vector size="346" baseType="lpstr">
      <vt:lpstr>NanumGothic</vt:lpstr>
      <vt:lpstr>맑은 고딕</vt:lpstr>
      <vt:lpstr>Arial</vt:lpstr>
      <vt:lpstr>Calibri</vt:lpstr>
      <vt:lpstr>Cambria</vt:lpstr>
      <vt:lpstr>Courier New</vt:lpstr>
      <vt:lpstr>Trebuchet MS</vt:lpstr>
      <vt:lpstr>Wingdings</vt:lpstr>
      <vt:lpstr>Office Theme</vt:lpstr>
      <vt:lpstr>PowerPoint 프레젠테이션</vt:lpstr>
      <vt:lpstr>PowerPoint 프레젠테이션</vt:lpstr>
      <vt:lpstr>PowerPoint 프레젠테이션</vt:lpstr>
      <vt:lpstr>학습 목표 및 진행 방향</vt:lpstr>
      <vt:lpstr>CPU vs. GPU</vt:lpstr>
      <vt:lpstr>CPU vs. GPU (계속)</vt:lpstr>
      <vt:lpstr>CPU 아키텍처</vt:lpstr>
      <vt:lpstr>GPU 아키텍쳐</vt:lpstr>
      <vt:lpstr>CPU vs GPU 하드웨어 차이</vt:lpstr>
      <vt:lpstr>GPU가 유리한/불리한 작업</vt:lpstr>
      <vt:lpstr>GPU 구조</vt:lpstr>
      <vt:lpstr>H100</vt:lpstr>
      <vt:lpstr>SM in H100</vt:lpstr>
      <vt:lpstr>GPU compute architecture</vt:lpstr>
      <vt:lpstr>SIMT와 WARP</vt:lpstr>
      <vt:lpstr>Execution Model</vt:lpstr>
      <vt:lpstr>GPU 메모리 모델</vt:lpstr>
      <vt:lpstr>GPU 메모리로의 데이터 전송 – 오프로딩( offloading)</vt:lpstr>
      <vt:lpstr>GPU programming Model</vt:lpstr>
      <vt:lpstr>”Drop-in” Libraries</vt:lpstr>
      <vt:lpstr>CUDA – Compute Unified Device Architecture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Vessl 클라우드 워크스페이스 생성(1)</vt:lpstr>
      <vt:lpstr>Vessl 클라우드 워크스페이스 생성(2)</vt:lpstr>
      <vt:lpstr>Vessl 클라우드 워크스페이스 생성(3)</vt:lpstr>
      <vt:lpstr>Vessl 클라우드 워크스페이스 생성(4)</vt:lpstr>
      <vt:lpstr>Vessl 클라우드 워크스페이스 생성(5)</vt:lpstr>
      <vt:lpstr>Vessl 클라우드 워크스페이스 생성(6)</vt:lpstr>
      <vt:lpstr>Vessl 클라우드 워크스페이스 생성(7)</vt:lpstr>
      <vt:lpstr>Vessl 클라우드 워크스페이스 생성(8)</vt:lpstr>
      <vt:lpstr>Vessl 클라우드 워크스페이스 생성(9) – 주피터랩 실행</vt:lpstr>
      <vt:lpstr>주피터랩 설정 (1)</vt:lpstr>
      <vt:lpstr>주피터랩 설정 (2) – 실습파일 복사</vt:lpstr>
      <vt:lpstr>주피터랩 설정 (2) – 실습파일 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CuPy 2일 집중 코스</dc:title>
  <dc:subject>PptxGenJS Presentation</dc:subject>
  <dc:creator>CuPy Course</dc:creator>
  <cp:lastModifiedBy>Ji-Hoon Kang</cp:lastModifiedBy>
  <cp:revision>24</cp:revision>
  <dcterms:created xsi:type="dcterms:W3CDTF">2026-07-03T08:32:03Z</dcterms:created>
  <dcterms:modified xsi:type="dcterms:W3CDTF">2026-07-20T12:08:07Z</dcterms:modified>
</cp:coreProperties>
</file>